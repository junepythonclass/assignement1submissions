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7" d="100"/>
          <a:sy n="77" d="100"/>
        </p:scale>
        <p:origin x="84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2694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4F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371600"/>
            <a:ext cx="4572000" cy="45720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868680"/>
            <a:ext cx="1188720" cy="11887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413" y="1153973"/>
            <a:ext cx="618134" cy="6181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46888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EXPLAINED THROUGH BODA-BODA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73152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7C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Core Computing Concepts, One Familiar Hustle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C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0789920" y="457200"/>
            <a:ext cx="914400" cy="914400"/>
          </a:xfrm>
          <a:prstGeom prst="ellipse">
            <a:avLst/>
          </a:prstGeom>
          <a:solidFill>
            <a:srgbClr val="E7C9A9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76" y="67665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9144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5362956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219456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BODA EXAMPLE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472287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calls and says: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“Pick me from Wandegeya, take me to Makerere, then stop at a supermarket.”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instructions tell you exactly what to do, in order.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77356" y="1920240"/>
            <a:ext cx="5362956" cy="4480560"/>
          </a:xfrm>
          <a:prstGeom prst="roundRect">
            <a:avLst>
              <a:gd name="adj" fmla="val 2449"/>
            </a:avLst>
          </a:prstGeom>
          <a:solidFill>
            <a:srgbClr val="6B4F4F"/>
          </a:solidFill>
          <a:ln/>
        </p:spPr>
      </p:sp>
      <p:sp>
        <p:nvSpPr>
          <p:cNvPr id="10" name="Text 7"/>
          <p:cNvSpPr/>
          <p:nvPr/>
        </p:nvSpPr>
        <p:spPr>
          <a:xfrm>
            <a:off x="6597396" y="219456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7C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PROGRAMMING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97396" y="2651760"/>
            <a:ext cx="47228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is giving step-by-step instructions to a computer so it can perform a task — just like a customer instructs a rider.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C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0789920" y="457200"/>
            <a:ext cx="914400" cy="914400"/>
          </a:xfrm>
          <a:prstGeom prst="ellipse">
            <a:avLst/>
          </a:prstGeom>
          <a:solidFill>
            <a:srgbClr val="E7C9A9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76" y="67665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9144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CPU, RAM &amp; Hard Disk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5362956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219456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BODA EXAMPLE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472287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= The Rider  — does the actual work.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= The Mind — holds the destination, fare, and route temporarily while riding.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Disk = Your Notebook/Phone — permanently stores contacts, earnings, and stage member numbers.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77356" y="1920240"/>
            <a:ext cx="5362956" cy="4480560"/>
          </a:xfrm>
          <a:prstGeom prst="roundRect">
            <a:avLst>
              <a:gd name="adj" fmla="val 2449"/>
            </a:avLst>
          </a:prstGeom>
          <a:solidFill>
            <a:srgbClr val="6B4F4F"/>
          </a:solidFill>
          <a:ln/>
        </p:spPr>
      </p:sp>
      <p:sp>
        <p:nvSpPr>
          <p:cNvPr id="10" name="Text 7"/>
          <p:cNvSpPr/>
          <p:nvPr/>
        </p:nvSpPr>
        <p:spPr>
          <a:xfrm>
            <a:off x="6597396" y="219456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7C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PROGRAMMING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97396" y="2651760"/>
            <a:ext cx="47228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from permanent storage, into temporary memory, then to the processor that acts on it.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597396" y="4846320"/>
            <a:ext cx="4722876" cy="1188720"/>
          </a:xfrm>
          <a:prstGeom prst="roundRect">
            <a:avLst>
              <a:gd name="adj" fmla="val 6154"/>
            </a:avLst>
          </a:prstGeom>
          <a:solidFill>
            <a:srgbClr val="2E2018"/>
          </a:solidFill>
          <a:ln/>
        </p:spPr>
      </p:sp>
      <p:sp>
        <p:nvSpPr>
          <p:cNvPr id="13" name="Text 10"/>
          <p:cNvSpPr/>
          <p:nvPr/>
        </p:nvSpPr>
        <p:spPr>
          <a:xfrm>
            <a:off x="6780276" y="4937760"/>
            <a:ext cx="43571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 Disk  →  RAM  →  CPU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C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0789920" y="457200"/>
            <a:ext cx="914400" cy="914400"/>
          </a:xfrm>
          <a:prstGeom prst="ellipse">
            <a:avLst/>
          </a:prstGeom>
          <a:solidFill>
            <a:srgbClr val="E7C9A9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76" y="67665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9144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Address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5362956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219456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BODA EXAMPLE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472287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house has an address — Plot 15, Plot 16, Plot 17.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someone says “Go to Plot 16,” you know exactly where to go if the houses have labels.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450" dirty="0">
              <a:solidFill>
                <a:srgbClr val="3A2A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there are no labels on the houses then the you can use a landmark like a supermarket in the area to help you 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77356" y="1920240"/>
            <a:ext cx="5362956" cy="4480560"/>
          </a:xfrm>
          <a:prstGeom prst="roundRect">
            <a:avLst>
              <a:gd name="adj" fmla="val 2449"/>
            </a:avLst>
          </a:prstGeom>
          <a:solidFill>
            <a:srgbClr val="6B4F4F"/>
          </a:solidFill>
          <a:ln/>
        </p:spPr>
      </p:sp>
      <p:sp>
        <p:nvSpPr>
          <p:cNvPr id="10" name="Text 7"/>
          <p:cNvSpPr/>
          <p:nvPr/>
        </p:nvSpPr>
        <p:spPr>
          <a:xfrm>
            <a:off x="6597396" y="219456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7C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PROGRAMMING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97396" y="2651760"/>
            <a:ext cx="47228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memory address is a specific location where data is stored. The computer uses addresses the same way you use plot numbers or landmarks— to find information instantly.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C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0789920" y="457200"/>
            <a:ext cx="914400" cy="914400"/>
          </a:xfrm>
          <a:prstGeom prst="ellipse">
            <a:avLst/>
          </a:prstGeom>
          <a:solidFill>
            <a:srgbClr val="E7C9A9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76" y="67665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9144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Partitioning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5362956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219456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BODA EXAMPLE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472287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seat box has compartments: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Compartment A → Money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Compartment B → License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Compartment C → Spare keys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section stores something different.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77356" y="1920240"/>
            <a:ext cx="5362956" cy="4480560"/>
          </a:xfrm>
          <a:prstGeom prst="roundRect">
            <a:avLst>
              <a:gd name="adj" fmla="val 2449"/>
            </a:avLst>
          </a:prstGeom>
          <a:solidFill>
            <a:srgbClr val="6B4F4F"/>
          </a:solidFill>
          <a:ln/>
        </p:spPr>
      </p:sp>
      <p:sp>
        <p:nvSpPr>
          <p:cNvPr id="10" name="Text 7"/>
          <p:cNvSpPr/>
          <p:nvPr/>
        </p:nvSpPr>
        <p:spPr>
          <a:xfrm>
            <a:off x="6597396" y="219456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7C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PROGRAMMING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97396" y="2651760"/>
            <a:ext cx="47228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partitioning means dividing storage into sections, so a computer can organize different kinds of data separately, just like your box compartments.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C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0789920" y="457200"/>
            <a:ext cx="914400" cy="914400"/>
          </a:xfrm>
          <a:prstGeom prst="ellipse">
            <a:avLst/>
          </a:prstGeom>
          <a:solidFill>
            <a:srgbClr val="E7C9A9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76" y="67665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9144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 (Memory Variable)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5362956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219456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BODA EXAMPLE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472287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a bag and label it “Today’s Earnings.”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: 10,000 UGX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Noon: 50,000 UGX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Night: 80,000 UGX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bag and bag name stay the same — the amount changes.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77356" y="1920240"/>
            <a:ext cx="5362956" cy="4480560"/>
          </a:xfrm>
          <a:prstGeom prst="roundRect">
            <a:avLst>
              <a:gd name="adj" fmla="val 2449"/>
            </a:avLst>
          </a:prstGeom>
          <a:solidFill>
            <a:srgbClr val="6B4F4F"/>
          </a:solidFill>
          <a:ln/>
        </p:spPr>
      </p:sp>
      <p:sp>
        <p:nvSpPr>
          <p:cNvPr id="10" name="Text 7"/>
          <p:cNvSpPr/>
          <p:nvPr/>
        </p:nvSpPr>
        <p:spPr>
          <a:xfrm>
            <a:off x="6597396" y="219456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7C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PROGRAMMING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97396" y="2651760"/>
            <a:ext cx="47228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a name you give a storage location that can hold a value, and that value can change over time.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597396" y="4846320"/>
            <a:ext cx="4722876" cy="1188720"/>
          </a:xfrm>
          <a:prstGeom prst="roundRect">
            <a:avLst>
              <a:gd name="adj" fmla="val 6154"/>
            </a:avLst>
          </a:prstGeom>
          <a:solidFill>
            <a:srgbClr val="2E2018"/>
          </a:solidFill>
          <a:ln/>
        </p:spPr>
      </p:sp>
      <p:sp>
        <p:nvSpPr>
          <p:cNvPr id="13" name="Text 10"/>
          <p:cNvSpPr/>
          <p:nvPr/>
        </p:nvSpPr>
        <p:spPr>
          <a:xfrm>
            <a:off x="6780276" y="4937760"/>
            <a:ext cx="43571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earnings = 10000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0E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earnings = 50000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0E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earnings = 80000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C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0789920" y="457200"/>
            <a:ext cx="914400" cy="914400"/>
          </a:xfrm>
          <a:prstGeom prst="ellipse">
            <a:avLst/>
          </a:prstGeom>
          <a:solidFill>
            <a:srgbClr val="E7C9A9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76" y="67665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9144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Statement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5362956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219456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BODA EXAMPLE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472287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“Start the motorcycle.”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one clear instruction — nothing more, nothing less.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77356" y="1920240"/>
            <a:ext cx="5362956" cy="4480560"/>
          </a:xfrm>
          <a:prstGeom prst="roundRect">
            <a:avLst>
              <a:gd name="adj" fmla="val 2449"/>
            </a:avLst>
          </a:prstGeom>
          <a:solidFill>
            <a:srgbClr val="6B4F4F"/>
          </a:solidFill>
          <a:ln/>
        </p:spPr>
      </p:sp>
      <p:sp>
        <p:nvSpPr>
          <p:cNvPr id="10" name="Text 7"/>
          <p:cNvSpPr/>
          <p:nvPr/>
        </p:nvSpPr>
        <p:spPr>
          <a:xfrm>
            <a:off x="6597396" y="219456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7C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PROGRAMMING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97396" y="2651760"/>
            <a:ext cx="47228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statement is a single instruction given to the computer. Just one action, clearly defined.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597396" y="4846320"/>
            <a:ext cx="4722876" cy="1188720"/>
          </a:xfrm>
          <a:prstGeom prst="roundRect">
            <a:avLst>
              <a:gd name="adj" fmla="val 6154"/>
            </a:avLst>
          </a:prstGeom>
          <a:solidFill>
            <a:srgbClr val="2E2018"/>
          </a:solidFill>
          <a:ln/>
        </p:spPr>
      </p:sp>
      <p:sp>
        <p:nvSpPr>
          <p:cNvPr id="13" name="Text 10"/>
          <p:cNvSpPr/>
          <p:nvPr/>
        </p:nvSpPr>
        <p:spPr>
          <a:xfrm>
            <a:off x="6780276" y="4937760"/>
            <a:ext cx="43571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fare = 5000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C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0789920" y="457200"/>
            <a:ext cx="914400" cy="914400"/>
          </a:xfrm>
          <a:prstGeom prst="ellipse">
            <a:avLst/>
          </a:prstGeom>
          <a:solidFill>
            <a:srgbClr val="E7C9A9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76" y="67665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9144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5362956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219456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BODA EXAMPLE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472287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toolbox: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Spanner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Screwdriver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Pliers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tools serve one purpose — repairs.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77356" y="1920240"/>
            <a:ext cx="5362956" cy="4480560"/>
          </a:xfrm>
          <a:prstGeom prst="roundRect">
            <a:avLst>
              <a:gd name="adj" fmla="val 2449"/>
            </a:avLst>
          </a:prstGeom>
          <a:solidFill>
            <a:srgbClr val="6B4F4F"/>
          </a:solidFill>
          <a:ln/>
        </p:spPr>
      </p:sp>
      <p:sp>
        <p:nvSpPr>
          <p:cNvPr id="10" name="Text 7"/>
          <p:cNvSpPr/>
          <p:nvPr/>
        </p:nvSpPr>
        <p:spPr>
          <a:xfrm>
            <a:off x="6597396" y="219456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7C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PROGRAMMING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97396" y="2651760"/>
            <a:ext cx="47228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module is a collection of related functions grouped together because they serve one shared purpose, just like tools in a toolbox.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C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0789920" y="457200"/>
            <a:ext cx="914400" cy="914400"/>
          </a:xfrm>
          <a:prstGeom prst="ellipse">
            <a:avLst/>
          </a:prstGeom>
          <a:solidFill>
            <a:srgbClr val="E7C9A9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76" y="67665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9144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5362956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219456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BODA EXAMPLE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472287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directions a customer gives: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Nakawa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left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at Total Petrol Station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like code for a rider.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77356" y="1920240"/>
            <a:ext cx="5362956" cy="4480560"/>
          </a:xfrm>
          <a:prstGeom prst="roundRect">
            <a:avLst>
              <a:gd name="adj" fmla="val 2449"/>
            </a:avLst>
          </a:prstGeom>
          <a:solidFill>
            <a:srgbClr val="6B4F4F"/>
          </a:solidFill>
          <a:ln/>
        </p:spPr>
      </p:sp>
      <p:sp>
        <p:nvSpPr>
          <p:cNvPr id="10" name="Text 7"/>
          <p:cNvSpPr/>
          <p:nvPr/>
        </p:nvSpPr>
        <p:spPr>
          <a:xfrm>
            <a:off x="6597396" y="219456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7C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PROGRAMMING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97396" y="2651760"/>
            <a:ext cx="47228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the full set of instructions written for a computer to follow, step by step — just like a customer's directions to a rider.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C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0789920" y="457200"/>
            <a:ext cx="914400" cy="914400"/>
          </a:xfrm>
          <a:prstGeom prst="ellipse">
            <a:avLst/>
          </a:prstGeom>
          <a:solidFill>
            <a:srgbClr val="E7C9A9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76" y="67665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9144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of Code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5362956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219456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BODA EXAMPLE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472287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transport a customer if the weather is good: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motorcycle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customer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to destination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payment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instructions working together as one unit under a condition.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77356" y="1920240"/>
            <a:ext cx="5362956" cy="4480560"/>
          </a:xfrm>
          <a:prstGeom prst="roundRect">
            <a:avLst>
              <a:gd name="adj" fmla="val 2449"/>
            </a:avLst>
          </a:prstGeom>
          <a:solidFill>
            <a:srgbClr val="6B4F4F"/>
          </a:solidFill>
          <a:ln/>
        </p:spPr>
      </p:sp>
      <p:sp>
        <p:nvSpPr>
          <p:cNvPr id="10" name="Text 7"/>
          <p:cNvSpPr/>
          <p:nvPr/>
        </p:nvSpPr>
        <p:spPr>
          <a:xfrm>
            <a:off x="6597396" y="219456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7C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PROGRAMMING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97396" y="2651760"/>
            <a:ext cx="47228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 of code is a group of statements that work together to complete one task under a condition. In code, indentation (condition) groups these lines together.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597396" y="4846320"/>
            <a:ext cx="4722876" cy="1188720"/>
          </a:xfrm>
          <a:prstGeom prst="roundRect">
            <a:avLst>
              <a:gd name="adj" fmla="val 6154"/>
            </a:avLst>
          </a:prstGeom>
          <a:solidFill>
            <a:srgbClr val="2E2018"/>
          </a:solidFill>
          <a:ln/>
        </p:spPr>
      </p:sp>
      <p:sp>
        <p:nvSpPr>
          <p:cNvPr id="13" name="Text 10"/>
          <p:cNvSpPr/>
          <p:nvPr/>
        </p:nvSpPr>
        <p:spPr>
          <a:xfrm>
            <a:off x="6780276" y="4937760"/>
            <a:ext cx="43571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customer_paid: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0E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print("Trip Complete")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C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0789920" y="457200"/>
            <a:ext cx="914400" cy="914400"/>
          </a:xfrm>
          <a:prstGeom prst="ellipse">
            <a:avLst/>
          </a:prstGeom>
          <a:solidFill>
            <a:srgbClr val="E7C9A9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76" y="67665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9144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5362956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219456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BODA EXAMPLE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472287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bags for different kinds of things: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bag→ notes, coins and cheques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Repairs → oil, spanner and gloves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→ Yes/No and maybe 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77356" y="1920240"/>
            <a:ext cx="5362956" cy="4480560"/>
          </a:xfrm>
          <a:prstGeom prst="roundRect">
            <a:avLst>
              <a:gd name="adj" fmla="val 2449"/>
            </a:avLst>
          </a:prstGeom>
          <a:solidFill>
            <a:srgbClr val="6B4F4F"/>
          </a:solidFill>
          <a:ln/>
        </p:spPr>
      </p:sp>
      <p:sp>
        <p:nvSpPr>
          <p:cNvPr id="10" name="Text 7"/>
          <p:cNvSpPr/>
          <p:nvPr/>
        </p:nvSpPr>
        <p:spPr>
          <a:xfrm>
            <a:off x="6597396" y="219456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7C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PROGRAMMING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97396" y="2651760"/>
            <a:ext cx="47228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type tells the computer what kind of information is being stored — numbers, text, or true/false values.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597396" y="4846320"/>
            <a:ext cx="4722876" cy="1188720"/>
          </a:xfrm>
          <a:prstGeom prst="roundRect">
            <a:avLst>
              <a:gd name="adj" fmla="val 6154"/>
            </a:avLst>
          </a:prstGeom>
          <a:solidFill>
            <a:srgbClr val="2E2018"/>
          </a:solidFill>
          <a:ln/>
        </p:spPr>
      </p:sp>
      <p:sp>
        <p:nvSpPr>
          <p:cNvPr id="13" name="Text 10"/>
          <p:cNvSpPr/>
          <p:nvPr/>
        </p:nvSpPr>
        <p:spPr>
          <a:xfrm>
            <a:off x="6780276" y="4937760"/>
            <a:ext cx="43571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5000      # Integer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0E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"John"    # String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0E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     # Boolean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C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0789920" y="457200"/>
            <a:ext cx="914400" cy="914400"/>
          </a:xfrm>
          <a:prstGeom prst="ellipse">
            <a:avLst/>
          </a:prstGeom>
          <a:solidFill>
            <a:srgbClr val="E7C9A9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76" y="67665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9144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Declaring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5362956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219456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BODA EXAMPLE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472287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buy a new envelope and label it “Today’s Earnings.”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haven't put any money inside yet — you've only created the space.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77356" y="1920240"/>
            <a:ext cx="5362956" cy="4480560"/>
          </a:xfrm>
          <a:prstGeom prst="roundRect">
            <a:avLst>
              <a:gd name="adj" fmla="val 2449"/>
            </a:avLst>
          </a:prstGeom>
          <a:solidFill>
            <a:srgbClr val="6B4F4F"/>
          </a:solidFill>
          <a:ln/>
        </p:spPr>
      </p:sp>
      <p:sp>
        <p:nvSpPr>
          <p:cNvPr id="10" name="Text 7"/>
          <p:cNvSpPr/>
          <p:nvPr/>
        </p:nvSpPr>
        <p:spPr>
          <a:xfrm>
            <a:off x="6597396" y="219456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7C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PROGRAMMING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97396" y="2651760"/>
            <a:ext cx="47228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Declaring means telling the computer a variable exists, before giving it a value.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597396" y="4846320"/>
            <a:ext cx="4722876" cy="1188720"/>
          </a:xfrm>
          <a:prstGeom prst="roundRect">
            <a:avLst>
              <a:gd name="adj" fmla="val 6154"/>
            </a:avLst>
          </a:prstGeom>
          <a:solidFill>
            <a:srgbClr val="2E2018"/>
          </a:solidFill>
          <a:ln/>
        </p:spPr>
      </p:sp>
      <p:sp>
        <p:nvSpPr>
          <p:cNvPr id="13" name="Text 10"/>
          <p:cNvSpPr/>
          <p:nvPr/>
        </p:nvSpPr>
        <p:spPr>
          <a:xfrm>
            <a:off x="6780276" y="4937760"/>
            <a:ext cx="43571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F0E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fare</a:t>
            </a:r>
            <a:endParaRPr lang="en-US" sz="1300" dirty="0"/>
          </a:p>
          <a:p>
            <a:pPr marL="0" indent="0">
              <a:buNone/>
            </a:pPr>
            <a:endParaRPr lang="en-US" sz="1300" dirty="0">
              <a:solidFill>
                <a:srgbClr val="F0E4D8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F0E4D8"/>
                </a:solidFill>
                <a:latin typeface="Courier New" pitchFamily="34" charset="0"/>
                <a:cs typeface="Courier New" pitchFamily="34" charset="-120"/>
              </a:rPr>
              <a:t>java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0E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fare;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C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0789920" y="457200"/>
            <a:ext cx="914400" cy="914400"/>
          </a:xfrm>
          <a:prstGeom prst="ellipse">
            <a:avLst/>
          </a:prstGeom>
          <a:solidFill>
            <a:srgbClr val="E7C9A9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76" y="67665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9144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Initialising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5362956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219456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BODA EXAMPLE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472287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create the envelope “Today’s Earnings,” then put 20,000 UGX inside it.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it has a starting value.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77356" y="1920240"/>
            <a:ext cx="5362956" cy="4480560"/>
          </a:xfrm>
          <a:prstGeom prst="roundRect">
            <a:avLst>
              <a:gd name="adj" fmla="val 2449"/>
            </a:avLst>
          </a:prstGeom>
          <a:solidFill>
            <a:srgbClr val="6B4F4F"/>
          </a:solidFill>
          <a:ln/>
        </p:spPr>
      </p:sp>
      <p:sp>
        <p:nvSpPr>
          <p:cNvPr id="10" name="Text 7"/>
          <p:cNvSpPr/>
          <p:nvPr/>
        </p:nvSpPr>
        <p:spPr>
          <a:xfrm>
            <a:off x="6597396" y="219456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7C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PROGRAMMING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97396" y="2651760"/>
            <a:ext cx="47228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Initializing means giving a variable its first value, right after it has been declared.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597396" y="4846320"/>
            <a:ext cx="4722876" cy="1188720"/>
          </a:xfrm>
          <a:prstGeom prst="roundRect">
            <a:avLst>
              <a:gd name="adj" fmla="val 6154"/>
            </a:avLst>
          </a:prstGeom>
          <a:solidFill>
            <a:srgbClr val="2E2018"/>
          </a:solidFill>
          <a:ln/>
        </p:spPr>
      </p:sp>
      <p:sp>
        <p:nvSpPr>
          <p:cNvPr id="13" name="Text 10"/>
          <p:cNvSpPr/>
          <p:nvPr/>
        </p:nvSpPr>
        <p:spPr>
          <a:xfrm>
            <a:off x="6780276" y="4937760"/>
            <a:ext cx="43571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fare = 20000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6B4F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4114800" cy="41148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Logic, Different Vehicle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E7C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program is just a rider following clear instructions — pick up data, carry it, drop it where it's needed.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832</Words>
  <Application>Microsoft Office PowerPoint</Application>
  <PresentationFormat>Widescreen</PresentationFormat>
  <Paragraphs>160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Explained Through Boda-Boda</dc:title>
  <dc:subject>PptxGenJS Presentation</dc:subject>
  <dc:creator>Boda Programming Series</dc:creator>
  <cp:lastModifiedBy>Edna Mbabazi</cp:lastModifiedBy>
  <cp:revision>2</cp:revision>
  <dcterms:created xsi:type="dcterms:W3CDTF">2026-06-22T01:23:15Z</dcterms:created>
  <dcterms:modified xsi:type="dcterms:W3CDTF">2026-06-22T02:02:42Z</dcterms:modified>
</cp:coreProperties>
</file>