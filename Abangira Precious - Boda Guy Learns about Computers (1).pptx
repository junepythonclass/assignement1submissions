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ef9f913031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ef9f913031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g3ef9f913031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ef9f913031_2_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g3ef9f913031_2_1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g3ef9f913031_2_1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ef9f913031_2_2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g3ef9f913031_2_2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 name="Google Shape;73;g3ef9f913031_2_2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ef9f913031_2_3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g3ef9f913031_2_3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g3ef9f913031_2_3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f9f913031_2_4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g3ef9f913031_2_4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g3ef9f913031_2_4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ef9f913031_2_5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g3ef9f913031_2_5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g3ef9f913031_2_5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ef9f913031_2_6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g3ef9f913031_2_6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g3ef9f913031_2_6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f9f913031_2_7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g3ef9f913031_2_7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g3ef9f913031_2_7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f9f913031_2_8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g3ef9f913031_2_8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g3ef9f913031_2_8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ef9f913031_2_9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3ef9f913031_2_9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3ef9f913031_2_9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ef9f913031_2_10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g3ef9f913031_2_10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g3ef9f913031_2_10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f9f913031_2_1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g3ef9f913031_2_11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3ef9f913031_2_11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ef9f913031_2_12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g3ef9f913031_2_12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g3ef9f913031_2_12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2E"/>
        </a:solidFill>
      </p:bgPr>
    </p:bg>
    <p:spTree>
      <p:nvGrpSpPr>
        <p:cNvPr id="56" name="Shape 56"/>
        <p:cNvGrpSpPr/>
        <p:nvPr/>
      </p:nvGrpSpPr>
      <p:grpSpPr>
        <a:xfrm>
          <a:off x="0" y="0"/>
          <a:ext cx="0" cy="0"/>
          <a:chOff x="0" y="0"/>
          <a:chExt cx="0" cy="0"/>
        </a:xfrm>
      </p:grpSpPr>
      <p:sp>
        <p:nvSpPr>
          <p:cNvPr id="57" name="Google Shape;57;p15"/>
          <p:cNvSpPr/>
          <p:nvPr/>
        </p:nvSpPr>
        <p:spPr>
          <a:xfrm>
            <a:off x="731520" y="1188720"/>
            <a:ext cx="7680960" cy="2011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800"/>
              <a:buFont typeface="Calibri"/>
              <a:buNone/>
            </a:pPr>
            <a:r>
              <a:rPr b="1" lang="en" sz="4800">
                <a:solidFill>
                  <a:schemeClr val="lt1"/>
                </a:solidFill>
                <a:latin typeface="Calibri"/>
                <a:ea typeface="Calibri"/>
                <a:cs typeface="Calibri"/>
                <a:sym typeface="Calibri"/>
              </a:rPr>
              <a:t>Boda Guy Learns about Computers</a:t>
            </a:r>
            <a:endParaRPr b="0" i="0" sz="4800" u="none" cap="none" strike="noStrike">
              <a:solidFill>
                <a:schemeClr val="lt1"/>
              </a:solidFill>
              <a:latin typeface="Calibri"/>
              <a:ea typeface="Calibri"/>
              <a:cs typeface="Calibri"/>
              <a:sym typeface="Calibri"/>
            </a:endParaRPr>
          </a:p>
        </p:txBody>
      </p:sp>
      <p:sp>
        <p:nvSpPr>
          <p:cNvPr id="58" name="Google Shape;58;p15"/>
          <p:cNvSpPr/>
          <p:nvPr/>
        </p:nvSpPr>
        <p:spPr>
          <a:xfrm>
            <a:off x="731520" y="3474720"/>
            <a:ext cx="73152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AACC"/>
              </a:buClr>
              <a:buSzPts val="1800"/>
              <a:buFont typeface="Calibri"/>
              <a:buNone/>
            </a:pPr>
            <a:r>
              <a:rPr b="1" lang="en" sz="2400">
                <a:solidFill>
                  <a:schemeClr val="lt1"/>
                </a:solidFill>
                <a:latin typeface="Calibri"/>
                <a:ea typeface="Calibri"/>
                <a:cs typeface="Calibri"/>
                <a:sym typeface="Calibri"/>
              </a:rPr>
              <a:t>Abangira Precious Nimmusiima</a:t>
            </a:r>
            <a:endParaRPr b="1" sz="2400" u="none" cap="none" strike="noStrik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sp>
        <p:nvSpPr>
          <p:cNvPr id="64" name="Google Shape;64;p16"/>
          <p:cNvSpPr/>
          <p:nvPr/>
        </p:nvSpPr>
        <p:spPr>
          <a:xfrm>
            <a:off x="0" y="0"/>
            <a:ext cx="2926080" cy="5143500"/>
          </a:xfrm>
          <a:prstGeom prst="rect">
            <a:avLst/>
          </a:prstGeom>
          <a:solidFill>
            <a:srgbClr val="F4F4F8"/>
          </a:solidFill>
          <a:ln cap="flat" cmpd="sng" w="12700">
            <a:solidFill>
              <a:srgbClr val="F4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6"/>
          <p:cNvSpPr/>
          <p:nvPr/>
        </p:nvSpPr>
        <p:spPr>
          <a:xfrm>
            <a:off x="502920" y="502920"/>
            <a:ext cx="822960" cy="822960"/>
          </a:xfrm>
          <a:prstGeom prst="ellipse">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6"/>
          <p:cNvSpPr/>
          <p:nvPr/>
        </p:nvSpPr>
        <p:spPr>
          <a:xfrm>
            <a:off x="502920" y="502920"/>
            <a:ext cx="82296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libri"/>
              <a:buNone/>
            </a:pPr>
            <a:r>
              <a:rPr b="1" i="0" lang="en" sz="1800" u="none" cap="none" strike="noStrike">
                <a:solidFill>
                  <a:srgbClr val="FFFFFF"/>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67" name="Google Shape;67;p16"/>
          <p:cNvSpPr/>
          <p:nvPr/>
        </p:nvSpPr>
        <p:spPr>
          <a:xfrm>
            <a:off x="201168" y="1554480"/>
            <a:ext cx="2523744" cy="274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2200"/>
              <a:buFont typeface="Calibri"/>
              <a:buNone/>
            </a:pPr>
            <a:r>
              <a:rPr b="1" i="0" lang="en" sz="2200" u="none" cap="none" strike="noStrike">
                <a:solidFill>
                  <a:srgbClr val="1A1A2E"/>
                </a:solidFill>
                <a:latin typeface="Calibri"/>
                <a:ea typeface="Calibri"/>
                <a:cs typeface="Calibri"/>
                <a:sym typeface="Calibri"/>
              </a:rPr>
              <a:t>Programming</a:t>
            </a:r>
            <a:endParaRPr b="0" i="0" sz="2200" u="none" cap="none" strike="noStrike">
              <a:solidFill>
                <a:schemeClr val="dk1"/>
              </a:solidFill>
              <a:latin typeface="Calibri"/>
              <a:ea typeface="Calibri"/>
              <a:cs typeface="Calibri"/>
              <a:sym typeface="Calibri"/>
            </a:endParaRPr>
          </a:p>
        </p:txBody>
      </p:sp>
      <p:sp>
        <p:nvSpPr>
          <p:cNvPr id="68" name="Google Shape;68;p16"/>
          <p:cNvSpPr/>
          <p:nvPr/>
        </p:nvSpPr>
        <p:spPr>
          <a:xfrm>
            <a:off x="2926080" y="0"/>
            <a:ext cx="54900" cy="5143500"/>
          </a:xfrm>
          <a:prstGeom prst="rect">
            <a:avLst/>
          </a:prstGeom>
          <a:solidFill>
            <a:srgbClr val="E2E2EC"/>
          </a:solidFill>
          <a:ln cap="flat" cmpd="sng" w="12700">
            <a:solidFill>
              <a:srgbClr val="E2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6"/>
          <p:cNvSpPr/>
          <p:nvPr/>
        </p:nvSpPr>
        <p:spPr>
          <a:xfrm>
            <a:off x="3246120" y="457200"/>
            <a:ext cx="5577840" cy="429768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You know when you get a new rider who knows nothing? You tell him: go to the stage, wait, when a passenger comes</a:t>
            </a:r>
            <a:r>
              <a:rPr lang="en" sz="1500">
                <a:solidFill>
                  <a:srgbClr val="2D2D2D"/>
                </a:solidFill>
                <a:latin typeface="Calibri"/>
                <a:ea typeface="Calibri"/>
                <a:cs typeface="Calibri"/>
                <a:sym typeface="Calibri"/>
              </a:rPr>
              <a:t>,</a:t>
            </a:r>
            <a:r>
              <a:rPr b="0" i="0" lang="en" sz="1500" u="none" cap="none" strike="noStrike">
                <a:solidFill>
                  <a:srgbClr val="2D2D2D"/>
                </a:solidFill>
                <a:latin typeface="Calibri"/>
                <a:ea typeface="Calibri"/>
                <a:cs typeface="Calibri"/>
                <a:sym typeface="Calibri"/>
              </a:rPr>
              <a:t> where they are going, ride there, collect money.</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You give him every step, one by one. That is programming. You are giving instructions to someone who cannot think for himself. A computer is the same </a:t>
            </a:r>
            <a:r>
              <a:rPr lang="en" sz="1500">
                <a:solidFill>
                  <a:srgbClr val="2D2D2D"/>
                </a:solidFill>
                <a:latin typeface="Calibri"/>
                <a:ea typeface="Calibri"/>
                <a:cs typeface="Calibri"/>
                <a:sym typeface="Calibri"/>
              </a:rPr>
              <a:t>way,</a:t>
            </a:r>
            <a:r>
              <a:rPr b="0" i="0" lang="en" sz="1500" u="none" cap="none" strike="noStrike">
                <a:solidFill>
                  <a:srgbClr val="2D2D2D"/>
                </a:solidFill>
                <a:latin typeface="Calibri"/>
                <a:ea typeface="Calibri"/>
                <a:cs typeface="Calibri"/>
                <a:sym typeface="Calibri"/>
              </a:rPr>
              <a:t> it cannot think. You must tell it every single step.</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sp>
        <p:nvSpPr>
          <p:cNvPr id="75" name="Google Shape;75;p17"/>
          <p:cNvSpPr/>
          <p:nvPr/>
        </p:nvSpPr>
        <p:spPr>
          <a:xfrm>
            <a:off x="0" y="0"/>
            <a:ext cx="2926080" cy="5143500"/>
          </a:xfrm>
          <a:prstGeom prst="rect">
            <a:avLst/>
          </a:prstGeom>
          <a:solidFill>
            <a:srgbClr val="F4F4F8"/>
          </a:solidFill>
          <a:ln cap="flat" cmpd="sng" w="12700">
            <a:solidFill>
              <a:srgbClr val="F4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7"/>
          <p:cNvSpPr/>
          <p:nvPr/>
        </p:nvSpPr>
        <p:spPr>
          <a:xfrm>
            <a:off x="502920" y="502920"/>
            <a:ext cx="822960" cy="822960"/>
          </a:xfrm>
          <a:prstGeom prst="ellipse">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7"/>
          <p:cNvSpPr/>
          <p:nvPr/>
        </p:nvSpPr>
        <p:spPr>
          <a:xfrm>
            <a:off x="502920" y="502920"/>
            <a:ext cx="82296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libri"/>
              <a:buNone/>
            </a:pPr>
            <a:r>
              <a:rPr b="1" i="0" lang="en" sz="1800" u="none" cap="none" strike="noStrike">
                <a:solidFill>
                  <a:srgbClr val="FFFFFF"/>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78" name="Google Shape;78;p17"/>
          <p:cNvSpPr/>
          <p:nvPr/>
        </p:nvSpPr>
        <p:spPr>
          <a:xfrm>
            <a:off x="201168" y="1554480"/>
            <a:ext cx="2523744" cy="274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2200"/>
              <a:buFont typeface="Calibri"/>
              <a:buNone/>
            </a:pPr>
            <a:r>
              <a:rPr b="1" i="0" lang="en" sz="2200" u="none" cap="none" strike="noStrike">
                <a:solidFill>
                  <a:srgbClr val="1A1A2E"/>
                </a:solidFill>
                <a:latin typeface="Calibri"/>
                <a:ea typeface="Calibri"/>
                <a:cs typeface="Calibri"/>
                <a:sym typeface="Calibri"/>
              </a:rPr>
              <a:t>CPU, RAM &amp; Hard Disk</a:t>
            </a:r>
            <a:endParaRPr b="0" i="0" sz="2200" u="none" cap="none" strike="noStrike">
              <a:solidFill>
                <a:schemeClr val="dk1"/>
              </a:solidFill>
              <a:latin typeface="Calibri"/>
              <a:ea typeface="Calibri"/>
              <a:cs typeface="Calibri"/>
              <a:sym typeface="Calibri"/>
            </a:endParaRPr>
          </a:p>
        </p:txBody>
      </p:sp>
      <p:sp>
        <p:nvSpPr>
          <p:cNvPr id="79" name="Google Shape;79;p17"/>
          <p:cNvSpPr/>
          <p:nvPr/>
        </p:nvSpPr>
        <p:spPr>
          <a:xfrm>
            <a:off x="2926080" y="0"/>
            <a:ext cx="54900" cy="5143500"/>
          </a:xfrm>
          <a:prstGeom prst="rect">
            <a:avLst/>
          </a:prstGeom>
          <a:solidFill>
            <a:srgbClr val="E2E2EC"/>
          </a:solidFill>
          <a:ln cap="flat" cmpd="sng" w="12700">
            <a:solidFill>
              <a:srgbClr val="E2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7"/>
          <p:cNvSpPr/>
          <p:nvPr/>
        </p:nvSpPr>
        <p:spPr>
          <a:xfrm>
            <a:off x="3246120" y="457200"/>
            <a:ext cx="5577840" cy="429768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You, the rider, are the CPU. You do the work.</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The fuel in your tank right now is RAM. It keeps you moving this moment. When it finishes, you stop.</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Your house where you keep the boda at night</a:t>
            </a:r>
            <a:r>
              <a:rPr lang="en" sz="1500">
                <a:solidFill>
                  <a:srgbClr val="2D2D2D"/>
                </a:solidFill>
                <a:latin typeface="Calibri"/>
                <a:ea typeface="Calibri"/>
                <a:cs typeface="Calibri"/>
                <a:sym typeface="Calibri"/>
              </a:rPr>
              <a:t>,</a:t>
            </a:r>
            <a:r>
              <a:rPr b="0" i="0" lang="en" sz="1500" u="none" cap="none" strike="noStrike">
                <a:solidFill>
                  <a:srgbClr val="2D2D2D"/>
                </a:solidFill>
                <a:latin typeface="Calibri"/>
                <a:ea typeface="Calibri"/>
                <a:cs typeface="Calibri"/>
                <a:sym typeface="Calibri"/>
              </a:rPr>
              <a:t> your logbook, your helmet</a:t>
            </a:r>
            <a:r>
              <a:rPr lang="en" sz="1500">
                <a:solidFill>
                  <a:srgbClr val="2D2D2D"/>
                </a:solidFill>
                <a:latin typeface="Calibri"/>
                <a:ea typeface="Calibri"/>
                <a:cs typeface="Calibri"/>
                <a:sym typeface="Calibri"/>
              </a:rPr>
              <a:t>,</a:t>
            </a:r>
            <a:r>
              <a:rPr b="0" i="0" lang="en" sz="1500" u="none" cap="none" strike="noStrike">
                <a:solidFill>
                  <a:srgbClr val="2D2D2D"/>
                </a:solidFill>
                <a:latin typeface="Calibri"/>
                <a:ea typeface="Calibri"/>
                <a:cs typeface="Calibri"/>
                <a:sym typeface="Calibri"/>
              </a:rPr>
              <a:t> that is the Hard Disk. Those things stay safe even when you sleep.</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 name="Shape 85"/>
        <p:cNvGrpSpPr/>
        <p:nvPr/>
      </p:nvGrpSpPr>
      <p:grpSpPr>
        <a:xfrm>
          <a:off x="0" y="0"/>
          <a:ext cx="0" cy="0"/>
          <a:chOff x="0" y="0"/>
          <a:chExt cx="0" cy="0"/>
        </a:xfrm>
      </p:grpSpPr>
      <p:sp>
        <p:nvSpPr>
          <p:cNvPr id="86" name="Google Shape;86;p18"/>
          <p:cNvSpPr/>
          <p:nvPr/>
        </p:nvSpPr>
        <p:spPr>
          <a:xfrm>
            <a:off x="0" y="0"/>
            <a:ext cx="2926080" cy="5143500"/>
          </a:xfrm>
          <a:prstGeom prst="rect">
            <a:avLst/>
          </a:prstGeom>
          <a:solidFill>
            <a:srgbClr val="F4F4F8"/>
          </a:solidFill>
          <a:ln cap="flat" cmpd="sng" w="12700">
            <a:solidFill>
              <a:srgbClr val="F4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8"/>
          <p:cNvSpPr/>
          <p:nvPr/>
        </p:nvSpPr>
        <p:spPr>
          <a:xfrm>
            <a:off x="502920" y="502920"/>
            <a:ext cx="822960" cy="822960"/>
          </a:xfrm>
          <a:prstGeom prst="ellipse">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8"/>
          <p:cNvSpPr/>
          <p:nvPr/>
        </p:nvSpPr>
        <p:spPr>
          <a:xfrm>
            <a:off x="502920" y="502920"/>
            <a:ext cx="82296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libri"/>
              <a:buNone/>
            </a:pPr>
            <a:r>
              <a:rPr b="1" i="0" lang="en" sz="1800" u="none" cap="none" strike="noStrike">
                <a:solidFill>
                  <a:srgbClr val="FFFFFF"/>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89" name="Google Shape;89;p18"/>
          <p:cNvSpPr/>
          <p:nvPr/>
        </p:nvSpPr>
        <p:spPr>
          <a:xfrm>
            <a:off x="201168" y="1554480"/>
            <a:ext cx="2523744" cy="274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2200"/>
              <a:buFont typeface="Calibri"/>
              <a:buNone/>
            </a:pPr>
            <a:r>
              <a:rPr b="1" i="0" lang="en" sz="2200" u="none" cap="none" strike="noStrike">
                <a:solidFill>
                  <a:srgbClr val="1A1A2E"/>
                </a:solidFill>
                <a:latin typeface="Calibri"/>
                <a:ea typeface="Calibri"/>
                <a:cs typeface="Calibri"/>
                <a:sym typeface="Calibri"/>
              </a:rPr>
              <a:t>Memory Address</a:t>
            </a:r>
            <a:endParaRPr b="0" i="0" sz="2200" u="none" cap="none" strike="noStrike">
              <a:solidFill>
                <a:schemeClr val="dk1"/>
              </a:solidFill>
              <a:latin typeface="Calibri"/>
              <a:ea typeface="Calibri"/>
              <a:cs typeface="Calibri"/>
              <a:sym typeface="Calibri"/>
            </a:endParaRPr>
          </a:p>
        </p:txBody>
      </p:sp>
      <p:sp>
        <p:nvSpPr>
          <p:cNvPr id="90" name="Google Shape;90;p18"/>
          <p:cNvSpPr/>
          <p:nvPr/>
        </p:nvSpPr>
        <p:spPr>
          <a:xfrm>
            <a:off x="2926080" y="0"/>
            <a:ext cx="54900" cy="5143500"/>
          </a:xfrm>
          <a:prstGeom prst="rect">
            <a:avLst/>
          </a:prstGeom>
          <a:solidFill>
            <a:srgbClr val="E2E2EC"/>
          </a:solidFill>
          <a:ln cap="flat" cmpd="sng" w="12700">
            <a:solidFill>
              <a:srgbClr val="E2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8"/>
          <p:cNvSpPr/>
          <p:nvPr/>
        </p:nvSpPr>
        <p:spPr>
          <a:xfrm>
            <a:off x="3246120" y="457200"/>
            <a:ext cx="5577840" cy="429768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At the stage, every parking spot has a number. Spot 1, spot 2, spot 3.</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If someone tells you "Ssemwanga is at spot 47," you walk straight there. You do not check every spot one by one.</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The computer does the same thing. Every slot in RAM has a number. When it needs something, it goes straight to that number. No searching.</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19"/>
          <p:cNvSpPr/>
          <p:nvPr/>
        </p:nvSpPr>
        <p:spPr>
          <a:xfrm>
            <a:off x="0" y="0"/>
            <a:ext cx="2926080" cy="5143500"/>
          </a:xfrm>
          <a:prstGeom prst="rect">
            <a:avLst/>
          </a:prstGeom>
          <a:solidFill>
            <a:srgbClr val="F4F4F8"/>
          </a:solidFill>
          <a:ln cap="flat" cmpd="sng" w="12700">
            <a:solidFill>
              <a:srgbClr val="F4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9"/>
          <p:cNvSpPr/>
          <p:nvPr/>
        </p:nvSpPr>
        <p:spPr>
          <a:xfrm>
            <a:off x="502920" y="502920"/>
            <a:ext cx="822960" cy="822960"/>
          </a:xfrm>
          <a:prstGeom prst="ellipse">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9"/>
          <p:cNvSpPr/>
          <p:nvPr/>
        </p:nvSpPr>
        <p:spPr>
          <a:xfrm>
            <a:off x="502920" y="502920"/>
            <a:ext cx="82296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libri"/>
              <a:buNone/>
            </a:pPr>
            <a:r>
              <a:rPr b="1" i="0" lang="en" sz="1800" u="none" cap="none" strike="noStrike">
                <a:solidFill>
                  <a:srgbClr val="FFFFFF"/>
                </a:solidFill>
                <a:latin typeface="Calibri"/>
                <a:ea typeface="Calibri"/>
                <a:cs typeface="Calibri"/>
                <a:sym typeface="Calibri"/>
              </a:rPr>
              <a:t>4</a:t>
            </a:r>
            <a:endParaRPr b="0" i="0" sz="1800" u="none" cap="none" strike="noStrike">
              <a:solidFill>
                <a:schemeClr val="dk1"/>
              </a:solidFill>
              <a:latin typeface="Calibri"/>
              <a:ea typeface="Calibri"/>
              <a:cs typeface="Calibri"/>
              <a:sym typeface="Calibri"/>
            </a:endParaRPr>
          </a:p>
        </p:txBody>
      </p:sp>
      <p:sp>
        <p:nvSpPr>
          <p:cNvPr id="100" name="Google Shape;100;p19"/>
          <p:cNvSpPr/>
          <p:nvPr/>
        </p:nvSpPr>
        <p:spPr>
          <a:xfrm>
            <a:off x="201168" y="1554480"/>
            <a:ext cx="2523744" cy="274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2200"/>
              <a:buFont typeface="Calibri"/>
              <a:buNone/>
            </a:pPr>
            <a:r>
              <a:rPr b="1" i="0" lang="en" sz="2200" u="none" cap="none" strike="noStrike">
                <a:solidFill>
                  <a:srgbClr val="1A1A2E"/>
                </a:solidFill>
                <a:latin typeface="Calibri"/>
                <a:ea typeface="Calibri"/>
                <a:cs typeface="Calibri"/>
                <a:sym typeface="Calibri"/>
              </a:rPr>
              <a:t>Memory Partitioning</a:t>
            </a:r>
            <a:endParaRPr b="0" i="0" sz="2200" u="none" cap="none" strike="noStrike">
              <a:solidFill>
                <a:schemeClr val="dk1"/>
              </a:solidFill>
              <a:latin typeface="Calibri"/>
              <a:ea typeface="Calibri"/>
              <a:cs typeface="Calibri"/>
              <a:sym typeface="Calibri"/>
            </a:endParaRPr>
          </a:p>
        </p:txBody>
      </p:sp>
      <p:sp>
        <p:nvSpPr>
          <p:cNvPr id="101" name="Google Shape;101;p19"/>
          <p:cNvSpPr/>
          <p:nvPr/>
        </p:nvSpPr>
        <p:spPr>
          <a:xfrm>
            <a:off x="2926080" y="0"/>
            <a:ext cx="54864" cy="5143500"/>
          </a:xfrm>
          <a:prstGeom prst="rect">
            <a:avLst/>
          </a:prstGeom>
          <a:solidFill>
            <a:srgbClr val="E2E2EC"/>
          </a:solidFill>
          <a:ln cap="flat" cmpd="sng" w="12700">
            <a:solidFill>
              <a:srgbClr val="E2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9"/>
          <p:cNvSpPr/>
          <p:nvPr/>
        </p:nvSpPr>
        <p:spPr>
          <a:xfrm>
            <a:off x="3246120" y="457200"/>
            <a:ext cx="5577840" cy="429768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At the stage, Kampala Riders park in one row, Wakiso Express in another row, freelancers in another. Nobody parks in another sacco's row.</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RAM is split the same way. Each program gets its own section. They do not touch each other's space. This keeps things organised and stops confusion.</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sp>
        <p:nvSpPr>
          <p:cNvPr id="108" name="Google Shape;108;p20"/>
          <p:cNvSpPr/>
          <p:nvPr/>
        </p:nvSpPr>
        <p:spPr>
          <a:xfrm>
            <a:off x="0" y="0"/>
            <a:ext cx="2926080" cy="5143500"/>
          </a:xfrm>
          <a:prstGeom prst="rect">
            <a:avLst/>
          </a:prstGeom>
          <a:solidFill>
            <a:srgbClr val="F4F4F8"/>
          </a:solidFill>
          <a:ln cap="flat" cmpd="sng" w="12700">
            <a:solidFill>
              <a:srgbClr val="F4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0"/>
          <p:cNvSpPr/>
          <p:nvPr/>
        </p:nvSpPr>
        <p:spPr>
          <a:xfrm>
            <a:off x="502920" y="502920"/>
            <a:ext cx="822960" cy="822960"/>
          </a:xfrm>
          <a:prstGeom prst="ellipse">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0"/>
          <p:cNvSpPr/>
          <p:nvPr/>
        </p:nvSpPr>
        <p:spPr>
          <a:xfrm>
            <a:off x="502920" y="502920"/>
            <a:ext cx="82296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libri"/>
              <a:buNone/>
            </a:pPr>
            <a:r>
              <a:rPr b="1" i="0" lang="en" sz="1800" u="none" cap="none" strike="noStrike">
                <a:solidFill>
                  <a:srgbClr val="FFFFFF"/>
                </a:solidFill>
                <a:latin typeface="Calibri"/>
                <a:ea typeface="Calibri"/>
                <a:cs typeface="Calibri"/>
                <a:sym typeface="Calibri"/>
              </a:rPr>
              <a:t>5</a:t>
            </a:r>
            <a:endParaRPr b="0" i="0" sz="1800" u="none" cap="none" strike="noStrike">
              <a:solidFill>
                <a:schemeClr val="dk1"/>
              </a:solidFill>
              <a:latin typeface="Calibri"/>
              <a:ea typeface="Calibri"/>
              <a:cs typeface="Calibri"/>
              <a:sym typeface="Calibri"/>
            </a:endParaRPr>
          </a:p>
        </p:txBody>
      </p:sp>
      <p:sp>
        <p:nvSpPr>
          <p:cNvPr id="111" name="Google Shape;111;p20"/>
          <p:cNvSpPr/>
          <p:nvPr/>
        </p:nvSpPr>
        <p:spPr>
          <a:xfrm>
            <a:off x="201168" y="1554480"/>
            <a:ext cx="2523744" cy="274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2200"/>
              <a:buFont typeface="Calibri"/>
              <a:buNone/>
            </a:pPr>
            <a:r>
              <a:rPr b="1" i="0" lang="en" sz="2200" u="none" cap="none" strike="noStrike">
                <a:solidFill>
                  <a:srgbClr val="1A1A2E"/>
                </a:solidFill>
                <a:latin typeface="Calibri"/>
                <a:ea typeface="Calibri"/>
                <a:cs typeface="Calibri"/>
                <a:sym typeface="Calibri"/>
              </a:rPr>
              <a:t>Variable</a:t>
            </a:r>
            <a:endParaRPr b="0" i="0" sz="2200" u="none" cap="none" strike="noStrike">
              <a:solidFill>
                <a:schemeClr val="dk1"/>
              </a:solidFill>
              <a:latin typeface="Calibri"/>
              <a:ea typeface="Calibri"/>
              <a:cs typeface="Calibri"/>
              <a:sym typeface="Calibri"/>
            </a:endParaRPr>
          </a:p>
        </p:txBody>
      </p:sp>
      <p:sp>
        <p:nvSpPr>
          <p:cNvPr id="112" name="Google Shape;112;p20"/>
          <p:cNvSpPr/>
          <p:nvPr/>
        </p:nvSpPr>
        <p:spPr>
          <a:xfrm>
            <a:off x="2926080" y="0"/>
            <a:ext cx="54864" cy="5143500"/>
          </a:xfrm>
          <a:prstGeom prst="rect">
            <a:avLst/>
          </a:prstGeom>
          <a:solidFill>
            <a:srgbClr val="E2E2EC"/>
          </a:solidFill>
          <a:ln cap="flat" cmpd="sng" w="12700">
            <a:solidFill>
              <a:srgbClr val="E2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0"/>
          <p:cNvSpPr/>
          <p:nvPr/>
        </p:nvSpPr>
        <p:spPr>
          <a:xfrm>
            <a:off x="3246120" y="457200"/>
            <a:ext cx="5577840" cy="429768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You count your trips in your head. Morning time, trips is zero. After the first ride, trips is one. After the second, trips is two.</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The name "trips" stays the same, but the number keeps changing. That is a variable. It is just a name that holds a value, and that value can change anytime.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 name="Shape 118"/>
        <p:cNvGrpSpPr/>
        <p:nvPr/>
      </p:nvGrpSpPr>
      <p:grpSpPr>
        <a:xfrm>
          <a:off x="0" y="0"/>
          <a:ext cx="0" cy="0"/>
          <a:chOff x="0" y="0"/>
          <a:chExt cx="0" cy="0"/>
        </a:xfrm>
      </p:grpSpPr>
      <p:sp>
        <p:nvSpPr>
          <p:cNvPr id="119" name="Google Shape;119;p21"/>
          <p:cNvSpPr/>
          <p:nvPr/>
        </p:nvSpPr>
        <p:spPr>
          <a:xfrm>
            <a:off x="0" y="0"/>
            <a:ext cx="2926080" cy="5143500"/>
          </a:xfrm>
          <a:prstGeom prst="rect">
            <a:avLst/>
          </a:prstGeom>
          <a:solidFill>
            <a:srgbClr val="F4F4F8"/>
          </a:solidFill>
          <a:ln cap="flat" cmpd="sng" w="12700">
            <a:solidFill>
              <a:srgbClr val="F4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1"/>
          <p:cNvSpPr/>
          <p:nvPr/>
        </p:nvSpPr>
        <p:spPr>
          <a:xfrm>
            <a:off x="502920" y="502920"/>
            <a:ext cx="822960" cy="822960"/>
          </a:xfrm>
          <a:prstGeom prst="ellipse">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1"/>
          <p:cNvSpPr/>
          <p:nvPr/>
        </p:nvSpPr>
        <p:spPr>
          <a:xfrm>
            <a:off x="502920" y="502920"/>
            <a:ext cx="82296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libri"/>
              <a:buNone/>
            </a:pPr>
            <a:r>
              <a:rPr b="1" i="0" lang="en" sz="1800" u="none" cap="none" strike="noStrike">
                <a:solidFill>
                  <a:srgbClr val="FFFFFF"/>
                </a:solidFill>
                <a:latin typeface="Calibri"/>
                <a:ea typeface="Calibri"/>
                <a:cs typeface="Calibri"/>
                <a:sym typeface="Calibri"/>
              </a:rPr>
              <a:t>6</a:t>
            </a:r>
            <a:endParaRPr b="0" i="0" sz="1800" u="none" cap="none" strike="noStrike">
              <a:solidFill>
                <a:schemeClr val="dk1"/>
              </a:solidFill>
              <a:latin typeface="Calibri"/>
              <a:ea typeface="Calibri"/>
              <a:cs typeface="Calibri"/>
              <a:sym typeface="Calibri"/>
            </a:endParaRPr>
          </a:p>
        </p:txBody>
      </p:sp>
      <p:sp>
        <p:nvSpPr>
          <p:cNvPr id="122" name="Google Shape;122;p21"/>
          <p:cNvSpPr/>
          <p:nvPr/>
        </p:nvSpPr>
        <p:spPr>
          <a:xfrm>
            <a:off x="201168" y="1554480"/>
            <a:ext cx="2523744" cy="274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2200"/>
              <a:buFont typeface="Calibri"/>
              <a:buNone/>
            </a:pPr>
            <a:r>
              <a:rPr b="1" i="0" lang="en" sz="2200" u="none" cap="none" strike="noStrike">
                <a:solidFill>
                  <a:srgbClr val="1A1A2E"/>
                </a:solidFill>
                <a:latin typeface="Calibri"/>
                <a:ea typeface="Calibri"/>
                <a:cs typeface="Calibri"/>
                <a:sym typeface="Calibri"/>
              </a:rPr>
              <a:t>Statement</a:t>
            </a:r>
            <a:endParaRPr b="0" i="0" sz="2200" u="none" cap="none" strike="noStrike">
              <a:solidFill>
                <a:schemeClr val="dk1"/>
              </a:solidFill>
              <a:latin typeface="Calibri"/>
              <a:ea typeface="Calibri"/>
              <a:cs typeface="Calibri"/>
              <a:sym typeface="Calibri"/>
            </a:endParaRPr>
          </a:p>
        </p:txBody>
      </p:sp>
      <p:sp>
        <p:nvSpPr>
          <p:cNvPr id="123" name="Google Shape;123;p21"/>
          <p:cNvSpPr/>
          <p:nvPr/>
        </p:nvSpPr>
        <p:spPr>
          <a:xfrm>
            <a:off x="2926080" y="0"/>
            <a:ext cx="54864" cy="5143500"/>
          </a:xfrm>
          <a:prstGeom prst="rect">
            <a:avLst/>
          </a:prstGeom>
          <a:solidFill>
            <a:srgbClr val="E2E2EC"/>
          </a:solidFill>
          <a:ln cap="flat" cmpd="sng" w="12700">
            <a:solidFill>
              <a:srgbClr val="E2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1"/>
          <p:cNvSpPr/>
          <p:nvPr/>
        </p:nvSpPr>
        <p:spPr>
          <a:xfrm>
            <a:off x="3246120" y="457200"/>
            <a:ext cx="5577840" cy="4297680"/>
          </a:xfrm>
          <a:prstGeom prst="rect">
            <a:avLst/>
          </a:prstGeom>
          <a:noFill/>
          <a:ln>
            <a:noFill/>
          </a:ln>
        </p:spPr>
        <p:txBody>
          <a:bodyPr anchorCtr="0" anchor="t" bIns="45700" lIns="91425" spcFirstLastPara="1" rIns="91425" wrap="square" tIns="45700">
            <a:noAutofit/>
          </a:bodyPr>
          <a:lstStyle/>
          <a:p>
            <a:pPr indent="0" lvl="0" marL="0" rtl="0" algn="l">
              <a:lnSpc>
                <a:spcPct val="130000"/>
              </a:lnSpc>
              <a:spcBef>
                <a:spcPts val="1000"/>
              </a:spcBef>
              <a:spcAft>
                <a:spcPts val="0"/>
              </a:spcAft>
              <a:buClr>
                <a:schemeClr val="dk1"/>
              </a:buClr>
              <a:buSzPts val="1100"/>
              <a:buFont typeface="Arial"/>
              <a:buNone/>
            </a:pPr>
            <a:r>
              <a:rPr lang="en" sz="1500">
                <a:solidFill>
                  <a:srgbClr val="2D2D2D"/>
                </a:solidFill>
                <a:latin typeface="Calibri"/>
                <a:ea typeface="Calibri"/>
                <a:cs typeface="Calibri"/>
                <a:sym typeface="Calibri"/>
              </a:rPr>
              <a:t>One order. Just one.</a:t>
            </a:r>
            <a:endParaRPr sz="1500">
              <a:solidFill>
                <a:srgbClr val="2D2D2D"/>
              </a:solidFill>
              <a:latin typeface="Calibri"/>
              <a:ea typeface="Calibri"/>
              <a:cs typeface="Calibri"/>
              <a:sym typeface="Calibri"/>
            </a:endParaRPr>
          </a:p>
          <a:p>
            <a:pPr indent="0" lvl="0" marL="0" rtl="0" algn="l">
              <a:lnSpc>
                <a:spcPct val="130000"/>
              </a:lnSpc>
              <a:spcBef>
                <a:spcPts val="1000"/>
              </a:spcBef>
              <a:spcAft>
                <a:spcPts val="0"/>
              </a:spcAft>
              <a:buClr>
                <a:schemeClr val="dk1"/>
              </a:buClr>
              <a:buSzPts val="1100"/>
              <a:buFont typeface="Arial"/>
              <a:buNone/>
            </a:pPr>
            <a:r>
              <a:rPr lang="en" sz="1500">
                <a:solidFill>
                  <a:srgbClr val="2D2D2D"/>
                </a:solidFill>
                <a:latin typeface="Calibri"/>
                <a:ea typeface="Calibri"/>
                <a:cs typeface="Calibri"/>
                <a:sym typeface="Calibri"/>
              </a:rPr>
              <a:t>Like telling a rider: "Pick up the passenger." That is it. Nothing else.</a:t>
            </a:r>
            <a:endParaRPr sz="1500">
              <a:solidFill>
                <a:srgbClr val="2D2D2D"/>
              </a:solidFill>
              <a:latin typeface="Calibri"/>
              <a:ea typeface="Calibri"/>
              <a:cs typeface="Calibri"/>
              <a:sym typeface="Calibri"/>
            </a:endParaRPr>
          </a:p>
          <a:p>
            <a:pPr indent="0" lvl="0" marL="0" rtl="0" algn="l">
              <a:lnSpc>
                <a:spcPct val="130000"/>
              </a:lnSpc>
              <a:spcBef>
                <a:spcPts val="1000"/>
              </a:spcBef>
              <a:spcAft>
                <a:spcPts val="0"/>
              </a:spcAft>
              <a:buClr>
                <a:schemeClr val="dk1"/>
              </a:buClr>
              <a:buSzPts val="1100"/>
              <a:buFont typeface="Arial"/>
              <a:buNone/>
            </a:pPr>
            <a:r>
              <a:rPr lang="en" sz="1500">
                <a:solidFill>
                  <a:srgbClr val="2D2D2D"/>
                </a:solidFill>
                <a:latin typeface="Calibri"/>
                <a:ea typeface="Calibri"/>
                <a:cs typeface="Calibri"/>
                <a:sym typeface="Calibri"/>
              </a:rPr>
              <a:t>You do not say "Pick up the passenger, then go to Kikuubo, then collect money." No. One order at a time.</a:t>
            </a:r>
            <a:endParaRPr sz="1500">
              <a:solidFill>
                <a:srgbClr val="2D2D2D"/>
              </a:solidFill>
              <a:latin typeface="Calibri"/>
              <a:ea typeface="Calibri"/>
              <a:cs typeface="Calibri"/>
              <a:sym typeface="Calibri"/>
            </a:endParaRPr>
          </a:p>
          <a:p>
            <a:pPr indent="0" lvl="0" marL="0" rtl="0" algn="l">
              <a:lnSpc>
                <a:spcPct val="130000"/>
              </a:lnSpc>
              <a:spcBef>
                <a:spcPts val="1000"/>
              </a:spcBef>
              <a:spcAft>
                <a:spcPts val="0"/>
              </a:spcAft>
              <a:buClr>
                <a:schemeClr val="dk1"/>
              </a:buClr>
              <a:buSzPts val="1100"/>
              <a:buFont typeface="Arial"/>
              <a:buNone/>
            </a:pPr>
            <a:r>
              <a:rPr lang="en" sz="1500">
                <a:solidFill>
                  <a:srgbClr val="2D2D2D"/>
                </a:solidFill>
                <a:latin typeface="Calibri"/>
                <a:ea typeface="Calibri"/>
                <a:cs typeface="Calibri"/>
                <a:sym typeface="Calibri"/>
              </a:rPr>
              <a:t>In the computer, one order like that is called a statement.</a:t>
            </a:r>
            <a:endParaRPr sz="1500">
              <a:solidFill>
                <a:srgbClr val="2D2D2D"/>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 name="Shape 129"/>
        <p:cNvGrpSpPr/>
        <p:nvPr/>
      </p:nvGrpSpPr>
      <p:grpSpPr>
        <a:xfrm>
          <a:off x="0" y="0"/>
          <a:ext cx="0" cy="0"/>
          <a:chOff x="0" y="0"/>
          <a:chExt cx="0" cy="0"/>
        </a:xfrm>
      </p:grpSpPr>
      <p:sp>
        <p:nvSpPr>
          <p:cNvPr id="130" name="Google Shape;130;p22"/>
          <p:cNvSpPr/>
          <p:nvPr/>
        </p:nvSpPr>
        <p:spPr>
          <a:xfrm>
            <a:off x="0" y="0"/>
            <a:ext cx="2926080" cy="5143500"/>
          </a:xfrm>
          <a:prstGeom prst="rect">
            <a:avLst/>
          </a:prstGeom>
          <a:solidFill>
            <a:srgbClr val="F4F4F8"/>
          </a:solidFill>
          <a:ln cap="flat" cmpd="sng" w="12700">
            <a:solidFill>
              <a:srgbClr val="F4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2"/>
          <p:cNvSpPr/>
          <p:nvPr/>
        </p:nvSpPr>
        <p:spPr>
          <a:xfrm>
            <a:off x="502920" y="502920"/>
            <a:ext cx="822960" cy="822960"/>
          </a:xfrm>
          <a:prstGeom prst="ellipse">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2"/>
          <p:cNvSpPr/>
          <p:nvPr/>
        </p:nvSpPr>
        <p:spPr>
          <a:xfrm>
            <a:off x="502920" y="502920"/>
            <a:ext cx="82296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libri"/>
              <a:buNone/>
            </a:pPr>
            <a:r>
              <a:rPr b="1" i="0" lang="en" sz="1800" u="none" cap="none" strike="noStrike">
                <a:solidFill>
                  <a:srgbClr val="FFFFFF"/>
                </a:solidFill>
                <a:latin typeface="Calibri"/>
                <a:ea typeface="Calibri"/>
                <a:cs typeface="Calibri"/>
                <a:sym typeface="Calibri"/>
              </a:rPr>
              <a:t>7</a:t>
            </a:r>
            <a:endParaRPr b="0" i="0" sz="1800" u="none" cap="none" strike="noStrike">
              <a:solidFill>
                <a:schemeClr val="dk1"/>
              </a:solidFill>
              <a:latin typeface="Calibri"/>
              <a:ea typeface="Calibri"/>
              <a:cs typeface="Calibri"/>
              <a:sym typeface="Calibri"/>
            </a:endParaRPr>
          </a:p>
        </p:txBody>
      </p:sp>
      <p:sp>
        <p:nvSpPr>
          <p:cNvPr id="133" name="Google Shape;133;p22"/>
          <p:cNvSpPr/>
          <p:nvPr/>
        </p:nvSpPr>
        <p:spPr>
          <a:xfrm>
            <a:off x="201168" y="1554480"/>
            <a:ext cx="2523744" cy="274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2200"/>
              <a:buFont typeface="Calibri"/>
              <a:buNone/>
            </a:pPr>
            <a:r>
              <a:rPr b="1" i="0" lang="en" sz="2200" u="none" cap="none" strike="noStrike">
                <a:solidFill>
                  <a:srgbClr val="1A1A2E"/>
                </a:solidFill>
                <a:latin typeface="Calibri"/>
                <a:ea typeface="Calibri"/>
                <a:cs typeface="Calibri"/>
                <a:sym typeface="Calibri"/>
              </a:rPr>
              <a:t>Block of Code</a:t>
            </a:r>
            <a:endParaRPr b="0" i="0" sz="2200" u="none" cap="none" strike="noStrike">
              <a:solidFill>
                <a:schemeClr val="dk1"/>
              </a:solidFill>
              <a:latin typeface="Calibri"/>
              <a:ea typeface="Calibri"/>
              <a:cs typeface="Calibri"/>
              <a:sym typeface="Calibri"/>
            </a:endParaRPr>
          </a:p>
        </p:txBody>
      </p:sp>
      <p:sp>
        <p:nvSpPr>
          <p:cNvPr id="134" name="Google Shape;134;p22"/>
          <p:cNvSpPr/>
          <p:nvPr/>
        </p:nvSpPr>
        <p:spPr>
          <a:xfrm>
            <a:off x="2926080" y="0"/>
            <a:ext cx="54864" cy="5143500"/>
          </a:xfrm>
          <a:prstGeom prst="rect">
            <a:avLst/>
          </a:prstGeom>
          <a:solidFill>
            <a:srgbClr val="E2E2EC"/>
          </a:solidFill>
          <a:ln cap="flat" cmpd="sng" w="12700">
            <a:solidFill>
              <a:srgbClr val="E2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2"/>
          <p:cNvSpPr/>
          <p:nvPr/>
        </p:nvSpPr>
        <p:spPr>
          <a:xfrm>
            <a:off x="3246120" y="457200"/>
            <a:ext cx="5577840" cy="429768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Every morning before you ride, you do three things together: check tyres, fill fuel, check brakes. You never do just one and skip the rest. They go together as a package.</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A block of code is the same idea. It is a set of steps that the computer always does together, never one without the others.</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sp>
        <p:nvSpPr>
          <p:cNvPr id="141" name="Google Shape;141;p23"/>
          <p:cNvSpPr/>
          <p:nvPr/>
        </p:nvSpPr>
        <p:spPr>
          <a:xfrm>
            <a:off x="0" y="0"/>
            <a:ext cx="2926080" cy="5143500"/>
          </a:xfrm>
          <a:prstGeom prst="rect">
            <a:avLst/>
          </a:prstGeom>
          <a:solidFill>
            <a:srgbClr val="F4F4F8"/>
          </a:solidFill>
          <a:ln cap="flat" cmpd="sng" w="12700">
            <a:solidFill>
              <a:srgbClr val="F4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3"/>
          <p:cNvSpPr/>
          <p:nvPr/>
        </p:nvSpPr>
        <p:spPr>
          <a:xfrm>
            <a:off x="502920" y="502920"/>
            <a:ext cx="822960" cy="822960"/>
          </a:xfrm>
          <a:prstGeom prst="ellipse">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3"/>
          <p:cNvSpPr/>
          <p:nvPr/>
        </p:nvSpPr>
        <p:spPr>
          <a:xfrm>
            <a:off x="502920" y="502920"/>
            <a:ext cx="82296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libri"/>
              <a:buNone/>
            </a:pPr>
            <a:r>
              <a:rPr b="1" i="0" lang="en" sz="1800" u="none" cap="none" strike="noStrike">
                <a:solidFill>
                  <a:srgbClr val="FFFFFF"/>
                </a:solidFill>
                <a:latin typeface="Calibri"/>
                <a:ea typeface="Calibri"/>
                <a:cs typeface="Calibri"/>
                <a:sym typeface="Calibri"/>
              </a:rPr>
              <a:t>8</a:t>
            </a:r>
            <a:endParaRPr b="0" i="0" sz="1800" u="none" cap="none" strike="noStrike">
              <a:solidFill>
                <a:schemeClr val="dk1"/>
              </a:solidFill>
              <a:latin typeface="Calibri"/>
              <a:ea typeface="Calibri"/>
              <a:cs typeface="Calibri"/>
              <a:sym typeface="Calibri"/>
            </a:endParaRPr>
          </a:p>
        </p:txBody>
      </p:sp>
      <p:sp>
        <p:nvSpPr>
          <p:cNvPr id="144" name="Google Shape;144;p23"/>
          <p:cNvSpPr/>
          <p:nvPr/>
        </p:nvSpPr>
        <p:spPr>
          <a:xfrm>
            <a:off x="201168" y="1554480"/>
            <a:ext cx="2523744" cy="274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2200"/>
              <a:buFont typeface="Calibri"/>
              <a:buNone/>
            </a:pPr>
            <a:r>
              <a:rPr b="1" i="0" lang="en" sz="2200" u="none" cap="none" strike="noStrike">
                <a:solidFill>
                  <a:srgbClr val="1A1A2E"/>
                </a:solidFill>
                <a:latin typeface="Calibri"/>
                <a:ea typeface="Calibri"/>
                <a:cs typeface="Calibri"/>
                <a:sym typeface="Calibri"/>
              </a:rPr>
              <a:t>Module</a:t>
            </a:r>
            <a:endParaRPr b="0" i="0" sz="2200" u="none" cap="none" strike="noStrike">
              <a:solidFill>
                <a:schemeClr val="dk1"/>
              </a:solidFill>
              <a:latin typeface="Calibri"/>
              <a:ea typeface="Calibri"/>
              <a:cs typeface="Calibri"/>
              <a:sym typeface="Calibri"/>
            </a:endParaRPr>
          </a:p>
        </p:txBody>
      </p:sp>
      <p:sp>
        <p:nvSpPr>
          <p:cNvPr id="145" name="Google Shape;145;p23"/>
          <p:cNvSpPr/>
          <p:nvPr/>
        </p:nvSpPr>
        <p:spPr>
          <a:xfrm>
            <a:off x="2926080" y="0"/>
            <a:ext cx="54864" cy="5143500"/>
          </a:xfrm>
          <a:prstGeom prst="rect">
            <a:avLst/>
          </a:prstGeom>
          <a:solidFill>
            <a:srgbClr val="E2E2EC"/>
          </a:solidFill>
          <a:ln cap="flat" cmpd="sng" w="12700">
            <a:solidFill>
              <a:srgbClr val="E2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3"/>
          <p:cNvSpPr/>
          <p:nvPr/>
        </p:nvSpPr>
        <p:spPr>
          <a:xfrm>
            <a:off x="3246120" y="457200"/>
            <a:ext cx="5577840" cy="429768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Some riders only carry passengers. Others only do deliveries. Each person handles their own job.</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A module is the same thing. In a boda app like Safeboda and Faras, one module handles money, another one handles the map that tells you where to go, another one sends messages to the passenger. Each one minds its own business and does its job.</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sp>
        <p:nvSpPr>
          <p:cNvPr id="152" name="Google Shape;152;p24"/>
          <p:cNvSpPr/>
          <p:nvPr/>
        </p:nvSpPr>
        <p:spPr>
          <a:xfrm>
            <a:off x="0" y="0"/>
            <a:ext cx="2926080" cy="5143500"/>
          </a:xfrm>
          <a:prstGeom prst="rect">
            <a:avLst/>
          </a:prstGeom>
          <a:solidFill>
            <a:srgbClr val="F4F4F8"/>
          </a:solidFill>
          <a:ln cap="flat" cmpd="sng" w="12700">
            <a:solidFill>
              <a:srgbClr val="F4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4"/>
          <p:cNvSpPr/>
          <p:nvPr/>
        </p:nvSpPr>
        <p:spPr>
          <a:xfrm>
            <a:off x="502920" y="502920"/>
            <a:ext cx="822960" cy="822960"/>
          </a:xfrm>
          <a:prstGeom prst="ellipse">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4"/>
          <p:cNvSpPr/>
          <p:nvPr/>
        </p:nvSpPr>
        <p:spPr>
          <a:xfrm>
            <a:off x="502920" y="502920"/>
            <a:ext cx="82296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libri"/>
              <a:buNone/>
            </a:pPr>
            <a:r>
              <a:rPr b="1" i="0" lang="en" sz="1800" u="none" cap="none" strike="noStrike">
                <a:solidFill>
                  <a:srgbClr val="FFFFFF"/>
                </a:solidFill>
                <a:latin typeface="Calibri"/>
                <a:ea typeface="Calibri"/>
                <a:cs typeface="Calibri"/>
                <a:sym typeface="Calibri"/>
              </a:rPr>
              <a:t>9</a:t>
            </a:r>
            <a:endParaRPr b="0" i="0" sz="1800" u="none" cap="none" strike="noStrike">
              <a:solidFill>
                <a:schemeClr val="dk1"/>
              </a:solidFill>
              <a:latin typeface="Calibri"/>
              <a:ea typeface="Calibri"/>
              <a:cs typeface="Calibri"/>
              <a:sym typeface="Calibri"/>
            </a:endParaRPr>
          </a:p>
        </p:txBody>
      </p:sp>
      <p:sp>
        <p:nvSpPr>
          <p:cNvPr id="155" name="Google Shape;155;p24"/>
          <p:cNvSpPr/>
          <p:nvPr/>
        </p:nvSpPr>
        <p:spPr>
          <a:xfrm>
            <a:off x="201168" y="1554480"/>
            <a:ext cx="2523744" cy="274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2200"/>
              <a:buFont typeface="Calibri"/>
              <a:buNone/>
            </a:pPr>
            <a:r>
              <a:rPr b="1" i="0" lang="en" sz="2200" u="none" cap="none" strike="noStrike">
                <a:solidFill>
                  <a:srgbClr val="1A1A2E"/>
                </a:solidFill>
                <a:latin typeface="Calibri"/>
                <a:ea typeface="Calibri"/>
                <a:cs typeface="Calibri"/>
                <a:sym typeface="Calibri"/>
              </a:rPr>
              <a:t>Code</a:t>
            </a:r>
            <a:endParaRPr b="0" i="0" sz="2200" u="none" cap="none" strike="noStrike">
              <a:solidFill>
                <a:schemeClr val="dk1"/>
              </a:solidFill>
              <a:latin typeface="Calibri"/>
              <a:ea typeface="Calibri"/>
              <a:cs typeface="Calibri"/>
              <a:sym typeface="Calibri"/>
            </a:endParaRPr>
          </a:p>
        </p:txBody>
      </p:sp>
      <p:sp>
        <p:nvSpPr>
          <p:cNvPr id="156" name="Google Shape;156;p24"/>
          <p:cNvSpPr/>
          <p:nvPr/>
        </p:nvSpPr>
        <p:spPr>
          <a:xfrm>
            <a:off x="2926080" y="0"/>
            <a:ext cx="54864" cy="5143500"/>
          </a:xfrm>
          <a:prstGeom prst="rect">
            <a:avLst/>
          </a:prstGeom>
          <a:solidFill>
            <a:srgbClr val="E2E2EC"/>
          </a:solidFill>
          <a:ln cap="flat" cmpd="sng" w="12700">
            <a:solidFill>
              <a:srgbClr val="E2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4"/>
          <p:cNvSpPr/>
          <p:nvPr/>
        </p:nvSpPr>
        <p:spPr>
          <a:xfrm>
            <a:off x="3246120" y="457200"/>
            <a:ext cx="5577840" cy="4297680"/>
          </a:xfrm>
          <a:prstGeom prst="rect">
            <a:avLst/>
          </a:prstGeom>
          <a:noFill/>
          <a:ln>
            <a:noFill/>
          </a:ln>
        </p:spPr>
        <p:txBody>
          <a:bodyPr anchorCtr="0" anchor="t" bIns="45700" lIns="91425" spcFirstLastPara="1" rIns="91425" wrap="square" tIns="45700">
            <a:noAutofit/>
          </a:bodyPr>
          <a:lstStyle/>
          <a:p>
            <a:pPr indent="0" lvl="0" marL="0" rtl="0" algn="l">
              <a:lnSpc>
                <a:spcPct val="130000"/>
              </a:lnSpc>
              <a:spcBef>
                <a:spcPts val="1000"/>
              </a:spcBef>
              <a:spcAft>
                <a:spcPts val="0"/>
              </a:spcAft>
              <a:buClr>
                <a:schemeClr val="dk1"/>
              </a:buClr>
              <a:buSzPts val="1100"/>
              <a:buFont typeface="Arial"/>
              <a:buNone/>
            </a:pPr>
            <a:r>
              <a:rPr lang="en" sz="1500">
                <a:solidFill>
                  <a:srgbClr val="2D2D2D"/>
                </a:solidFill>
                <a:latin typeface="Calibri"/>
                <a:ea typeface="Calibri"/>
                <a:cs typeface="Calibri"/>
                <a:sym typeface="Calibri"/>
              </a:rPr>
              <a:t>Code is all the written steps that tell the computer what to do.</a:t>
            </a:r>
            <a:endParaRPr sz="1500">
              <a:solidFill>
                <a:srgbClr val="2D2D2D"/>
              </a:solidFill>
              <a:latin typeface="Calibri"/>
              <a:ea typeface="Calibri"/>
              <a:cs typeface="Calibri"/>
              <a:sym typeface="Calibri"/>
            </a:endParaRPr>
          </a:p>
          <a:p>
            <a:pPr indent="0" lvl="0" marL="0" rtl="0" algn="l">
              <a:lnSpc>
                <a:spcPct val="130000"/>
              </a:lnSpc>
              <a:spcBef>
                <a:spcPts val="1000"/>
              </a:spcBef>
              <a:spcAft>
                <a:spcPts val="0"/>
              </a:spcAft>
              <a:buClr>
                <a:schemeClr val="dk1"/>
              </a:buClr>
              <a:buSzPts val="1100"/>
              <a:buFont typeface="Arial"/>
              <a:buNone/>
            </a:pPr>
            <a:r>
              <a:rPr lang="en" sz="1500">
                <a:solidFill>
                  <a:srgbClr val="2D2D2D"/>
                </a:solidFill>
                <a:latin typeface="Calibri"/>
                <a:ea typeface="Calibri"/>
                <a:cs typeface="Calibri"/>
                <a:sym typeface="Calibri"/>
              </a:rPr>
              <a:t>Think of it as the full rule book for your boda business, written down so carefully that even someone who has never ridden before can follow it exactly.</a:t>
            </a:r>
            <a:endParaRPr sz="1500">
              <a:solidFill>
                <a:srgbClr val="2D2D2D"/>
              </a:solidFill>
              <a:latin typeface="Calibri"/>
              <a:ea typeface="Calibri"/>
              <a:cs typeface="Calibri"/>
              <a:sym typeface="Calibri"/>
            </a:endParaRPr>
          </a:p>
          <a:p>
            <a:pPr indent="0" lvl="0" marL="0" rtl="0" algn="l">
              <a:lnSpc>
                <a:spcPct val="130000"/>
              </a:lnSpc>
              <a:spcBef>
                <a:spcPts val="1000"/>
              </a:spcBef>
              <a:spcAft>
                <a:spcPts val="0"/>
              </a:spcAft>
              <a:buClr>
                <a:schemeClr val="dk1"/>
              </a:buClr>
              <a:buSzPts val="1100"/>
              <a:buFont typeface="Arial"/>
              <a:buNone/>
            </a:pPr>
            <a:r>
              <a:rPr lang="en" sz="1500">
                <a:solidFill>
                  <a:srgbClr val="2D2D2D"/>
                </a:solidFill>
                <a:latin typeface="Calibri"/>
                <a:ea typeface="Calibri"/>
                <a:cs typeface="Calibri"/>
                <a:sym typeface="Calibri"/>
              </a:rPr>
              <a:t>Every guideline. Every route. Every price. What to do when it rains. What to do when the passenger refuses to pay. All of it, written down.</a:t>
            </a:r>
            <a:endParaRPr sz="1500">
              <a:solidFill>
                <a:srgbClr val="2D2D2D"/>
              </a:solidFill>
              <a:latin typeface="Calibri"/>
              <a:ea typeface="Calibri"/>
              <a:cs typeface="Calibri"/>
              <a:sym typeface="Calibri"/>
            </a:endParaRPr>
          </a:p>
          <a:p>
            <a:pPr indent="0" lvl="0" marL="0" marR="0" rtl="0" algn="l">
              <a:lnSpc>
                <a:spcPct val="130000"/>
              </a:lnSpc>
              <a:spcBef>
                <a:spcPts val="1000"/>
              </a:spcBef>
              <a:spcAft>
                <a:spcPts val="0"/>
              </a:spcAft>
              <a:buClr>
                <a:srgbClr val="2D2D2D"/>
              </a:buClr>
              <a:buSzPts val="1500"/>
              <a:buFont typeface="Calibri"/>
              <a:buNone/>
            </a:pPr>
            <a:r>
              <a:t/>
            </a:r>
            <a:endParaRPr sz="1500">
              <a:solidFill>
                <a:srgbClr val="2D2D2D"/>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 name="Shape 162"/>
        <p:cNvGrpSpPr/>
        <p:nvPr/>
      </p:nvGrpSpPr>
      <p:grpSpPr>
        <a:xfrm>
          <a:off x="0" y="0"/>
          <a:ext cx="0" cy="0"/>
          <a:chOff x="0" y="0"/>
          <a:chExt cx="0" cy="0"/>
        </a:xfrm>
      </p:grpSpPr>
      <p:sp>
        <p:nvSpPr>
          <p:cNvPr id="163" name="Google Shape;163;p25"/>
          <p:cNvSpPr/>
          <p:nvPr/>
        </p:nvSpPr>
        <p:spPr>
          <a:xfrm>
            <a:off x="0" y="0"/>
            <a:ext cx="2926080" cy="5143500"/>
          </a:xfrm>
          <a:prstGeom prst="rect">
            <a:avLst/>
          </a:prstGeom>
          <a:solidFill>
            <a:srgbClr val="F4F4F8"/>
          </a:solidFill>
          <a:ln cap="flat" cmpd="sng" w="12700">
            <a:solidFill>
              <a:srgbClr val="F4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5"/>
          <p:cNvSpPr/>
          <p:nvPr/>
        </p:nvSpPr>
        <p:spPr>
          <a:xfrm>
            <a:off x="502920" y="502920"/>
            <a:ext cx="822960" cy="822960"/>
          </a:xfrm>
          <a:prstGeom prst="ellipse">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5"/>
          <p:cNvSpPr/>
          <p:nvPr/>
        </p:nvSpPr>
        <p:spPr>
          <a:xfrm>
            <a:off x="502920" y="502920"/>
            <a:ext cx="82296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libri"/>
              <a:buNone/>
            </a:pPr>
            <a:r>
              <a:rPr b="1" i="0" lang="en" sz="1800" u="none" cap="none" strike="noStrike">
                <a:solidFill>
                  <a:srgbClr val="FFFFFF"/>
                </a:solidFill>
                <a:latin typeface="Calibri"/>
                <a:ea typeface="Calibri"/>
                <a:cs typeface="Calibri"/>
                <a:sym typeface="Calibri"/>
              </a:rPr>
              <a:t>10</a:t>
            </a:r>
            <a:endParaRPr b="0" i="0" sz="1800" u="none" cap="none" strike="noStrike">
              <a:solidFill>
                <a:schemeClr val="dk1"/>
              </a:solidFill>
              <a:latin typeface="Calibri"/>
              <a:ea typeface="Calibri"/>
              <a:cs typeface="Calibri"/>
              <a:sym typeface="Calibri"/>
            </a:endParaRPr>
          </a:p>
        </p:txBody>
      </p:sp>
      <p:sp>
        <p:nvSpPr>
          <p:cNvPr id="166" name="Google Shape;166;p25"/>
          <p:cNvSpPr/>
          <p:nvPr/>
        </p:nvSpPr>
        <p:spPr>
          <a:xfrm>
            <a:off x="201168" y="1554480"/>
            <a:ext cx="2523744" cy="274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2200"/>
              <a:buFont typeface="Calibri"/>
              <a:buNone/>
            </a:pPr>
            <a:r>
              <a:rPr b="1" i="0" lang="en" sz="2200" u="none" cap="none" strike="noStrike">
                <a:solidFill>
                  <a:srgbClr val="1A1A2E"/>
                </a:solidFill>
                <a:latin typeface="Calibri"/>
                <a:ea typeface="Calibri"/>
                <a:cs typeface="Calibri"/>
                <a:sym typeface="Calibri"/>
              </a:rPr>
              <a:t>Data Type</a:t>
            </a:r>
            <a:endParaRPr b="0" i="0" sz="2200" u="none" cap="none" strike="noStrike">
              <a:solidFill>
                <a:schemeClr val="dk1"/>
              </a:solidFill>
              <a:latin typeface="Calibri"/>
              <a:ea typeface="Calibri"/>
              <a:cs typeface="Calibri"/>
              <a:sym typeface="Calibri"/>
            </a:endParaRPr>
          </a:p>
        </p:txBody>
      </p:sp>
      <p:sp>
        <p:nvSpPr>
          <p:cNvPr id="167" name="Google Shape;167;p25"/>
          <p:cNvSpPr/>
          <p:nvPr/>
        </p:nvSpPr>
        <p:spPr>
          <a:xfrm>
            <a:off x="2926080" y="0"/>
            <a:ext cx="54864" cy="5143500"/>
          </a:xfrm>
          <a:prstGeom prst="rect">
            <a:avLst/>
          </a:prstGeom>
          <a:solidFill>
            <a:srgbClr val="E2E2EC"/>
          </a:solidFill>
          <a:ln cap="flat" cmpd="sng" w="12700">
            <a:solidFill>
              <a:srgbClr val="E2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5"/>
          <p:cNvSpPr/>
          <p:nvPr/>
        </p:nvSpPr>
        <p:spPr>
          <a:xfrm>
            <a:off x="3246120" y="457200"/>
            <a:ext cx="5577840" cy="429768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Not everything is the same kind of thing.</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The number of trips you made today is a whole number, like 12. A rider's name like "Mukasa" is words. Whether you are free or busy is just a yes or no.</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The computer needs to know which kind of thing it is dealing with, so it handles each one properly.</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p26"/>
          <p:cNvSpPr/>
          <p:nvPr/>
        </p:nvSpPr>
        <p:spPr>
          <a:xfrm>
            <a:off x="0" y="0"/>
            <a:ext cx="2926080" cy="5143500"/>
          </a:xfrm>
          <a:prstGeom prst="rect">
            <a:avLst/>
          </a:prstGeom>
          <a:solidFill>
            <a:srgbClr val="F4F4F8"/>
          </a:solidFill>
          <a:ln cap="flat" cmpd="sng" w="12700">
            <a:solidFill>
              <a:srgbClr val="F4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6"/>
          <p:cNvSpPr/>
          <p:nvPr/>
        </p:nvSpPr>
        <p:spPr>
          <a:xfrm>
            <a:off x="502920" y="502920"/>
            <a:ext cx="822960" cy="822960"/>
          </a:xfrm>
          <a:prstGeom prst="ellipse">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6"/>
          <p:cNvSpPr/>
          <p:nvPr/>
        </p:nvSpPr>
        <p:spPr>
          <a:xfrm>
            <a:off x="502920" y="502920"/>
            <a:ext cx="82296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libri"/>
              <a:buNone/>
            </a:pPr>
            <a:r>
              <a:rPr b="1" i="0" lang="en" sz="1800" u="none" cap="none" strike="noStrike">
                <a:solidFill>
                  <a:srgbClr val="FFFFFF"/>
                </a:solidFill>
                <a:latin typeface="Calibri"/>
                <a:ea typeface="Calibri"/>
                <a:cs typeface="Calibri"/>
                <a:sym typeface="Calibri"/>
              </a:rPr>
              <a:t>11</a:t>
            </a:r>
            <a:endParaRPr b="0" i="0" sz="1800" u="none" cap="none" strike="noStrike">
              <a:solidFill>
                <a:schemeClr val="dk1"/>
              </a:solidFill>
              <a:latin typeface="Calibri"/>
              <a:ea typeface="Calibri"/>
              <a:cs typeface="Calibri"/>
              <a:sym typeface="Calibri"/>
            </a:endParaRPr>
          </a:p>
        </p:txBody>
      </p:sp>
      <p:sp>
        <p:nvSpPr>
          <p:cNvPr id="177" name="Google Shape;177;p26"/>
          <p:cNvSpPr/>
          <p:nvPr/>
        </p:nvSpPr>
        <p:spPr>
          <a:xfrm>
            <a:off x="201168" y="1554480"/>
            <a:ext cx="2523744" cy="274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2200"/>
              <a:buFont typeface="Calibri"/>
              <a:buNone/>
            </a:pPr>
            <a:r>
              <a:rPr b="1" i="0" lang="en" sz="2200" u="none" cap="none" strike="noStrike">
                <a:solidFill>
                  <a:srgbClr val="1A1A2E"/>
                </a:solidFill>
                <a:latin typeface="Calibri"/>
                <a:ea typeface="Calibri"/>
                <a:cs typeface="Calibri"/>
                <a:sym typeface="Calibri"/>
              </a:rPr>
              <a:t>Declaring</a:t>
            </a:r>
            <a:endParaRPr b="0" i="0" sz="2200" u="none" cap="none" strike="noStrike">
              <a:solidFill>
                <a:schemeClr val="dk1"/>
              </a:solidFill>
              <a:latin typeface="Calibri"/>
              <a:ea typeface="Calibri"/>
              <a:cs typeface="Calibri"/>
              <a:sym typeface="Calibri"/>
            </a:endParaRPr>
          </a:p>
        </p:txBody>
      </p:sp>
      <p:sp>
        <p:nvSpPr>
          <p:cNvPr id="178" name="Google Shape;178;p26"/>
          <p:cNvSpPr/>
          <p:nvPr/>
        </p:nvSpPr>
        <p:spPr>
          <a:xfrm>
            <a:off x="2926080" y="0"/>
            <a:ext cx="54864" cy="5143500"/>
          </a:xfrm>
          <a:prstGeom prst="rect">
            <a:avLst/>
          </a:prstGeom>
          <a:solidFill>
            <a:srgbClr val="E2E2EC"/>
          </a:solidFill>
          <a:ln cap="flat" cmpd="sng" w="12700">
            <a:solidFill>
              <a:srgbClr val="E2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6"/>
          <p:cNvSpPr/>
          <p:nvPr/>
        </p:nvSpPr>
        <p:spPr>
          <a:xfrm>
            <a:off x="3246120" y="457200"/>
            <a:ext cx="5577840" cy="429768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You go to the chairman and say, "Save me a parking </a:t>
            </a:r>
            <a:r>
              <a:rPr lang="en" sz="1500">
                <a:solidFill>
                  <a:srgbClr val="2D2D2D"/>
                </a:solidFill>
                <a:latin typeface="Calibri"/>
                <a:ea typeface="Calibri"/>
                <a:cs typeface="Calibri"/>
                <a:sym typeface="Calibri"/>
              </a:rPr>
              <a:t>place</a:t>
            </a:r>
            <a:r>
              <a:rPr b="0" i="0" lang="en" sz="1500" u="none" cap="none" strike="noStrike">
                <a:solidFill>
                  <a:srgbClr val="2D2D2D"/>
                </a:solidFill>
                <a:latin typeface="Calibri"/>
                <a:ea typeface="Calibri"/>
                <a:cs typeface="Calibri"/>
                <a:sym typeface="Calibri"/>
              </a:rPr>
              <a:t>." The spot now has your name on it. But you have not parked there yet. It is empty, just reserved.</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Declaring is the same thing. You tell the computer, "I need a </a:t>
            </a:r>
            <a:r>
              <a:rPr lang="en" sz="1500">
                <a:solidFill>
                  <a:srgbClr val="2D2D2D"/>
                </a:solidFill>
                <a:latin typeface="Calibri"/>
                <a:ea typeface="Calibri"/>
                <a:cs typeface="Calibri"/>
                <a:sym typeface="Calibri"/>
              </a:rPr>
              <a:t>place/slot</a:t>
            </a:r>
            <a:r>
              <a:rPr b="0" i="0" lang="en" sz="1500" u="none" cap="none" strike="noStrike">
                <a:solidFill>
                  <a:srgbClr val="2D2D2D"/>
                </a:solidFill>
                <a:latin typeface="Calibri"/>
                <a:ea typeface="Calibri"/>
                <a:cs typeface="Calibri"/>
                <a:sym typeface="Calibri"/>
              </a:rPr>
              <a:t> called trips." The slot is ready, but nothing is inside it yet.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sp>
        <p:nvSpPr>
          <p:cNvPr id="185" name="Google Shape;185;p27"/>
          <p:cNvSpPr/>
          <p:nvPr/>
        </p:nvSpPr>
        <p:spPr>
          <a:xfrm>
            <a:off x="0" y="0"/>
            <a:ext cx="2926080" cy="5143500"/>
          </a:xfrm>
          <a:prstGeom prst="rect">
            <a:avLst/>
          </a:prstGeom>
          <a:solidFill>
            <a:srgbClr val="F4F4F8"/>
          </a:solidFill>
          <a:ln cap="flat" cmpd="sng" w="12700">
            <a:solidFill>
              <a:srgbClr val="F4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7"/>
          <p:cNvSpPr/>
          <p:nvPr/>
        </p:nvSpPr>
        <p:spPr>
          <a:xfrm>
            <a:off x="502920" y="502920"/>
            <a:ext cx="822960" cy="822960"/>
          </a:xfrm>
          <a:prstGeom prst="ellipse">
            <a:avLst/>
          </a:prstGeom>
          <a:solidFill>
            <a:srgbClr val="E94560"/>
          </a:solidFill>
          <a:ln cap="flat" cmpd="sng" w="1270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7"/>
          <p:cNvSpPr/>
          <p:nvPr/>
        </p:nvSpPr>
        <p:spPr>
          <a:xfrm>
            <a:off x="502920" y="502920"/>
            <a:ext cx="82296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libri"/>
              <a:buNone/>
            </a:pPr>
            <a:r>
              <a:rPr b="1" i="0" lang="en" sz="1800" u="none" cap="none" strike="noStrike">
                <a:solidFill>
                  <a:srgbClr val="FFFFFF"/>
                </a:solidFill>
                <a:latin typeface="Calibri"/>
                <a:ea typeface="Calibri"/>
                <a:cs typeface="Calibri"/>
                <a:sym typeface="Calibri"/>
              </a:rPr>
              <a:t>12</a:t>
            </a:r>
            <a:endParaRPr b="0" i="0" sz="1800" u="none" cap="none" strike="noStrike">
              <a:solidFill>
                <a:schemeClr val="dk1"/>
              </a:solidFill>
              <a:latin typeface="Calibri"/>
              <a:ea typeface="Calibri"/>
              <a:cs typeface="Calibri"/>
              <a:sym typeface="Calibri"/>
            </a:endParaRPr>
          </a:p>
        </p:txBody>
      </p:sp>
      <p:sp>
        <p:nvSpPr>
          <p:cNvPr id="188" name="Google Shape;188;p27"/>
          <p:cNvSpPr/>
          <p:nvPr/>
        </p:nvSpPr>
        <p:spPr>
          <a:xfrm>
            <a:off x="201168" y="1554480"/>
            <a:ext cx="2523744" cy="274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2200"/>
              <a:buFont typeface="Calibri"/>
              <a:buNone/>
            </a:pPr>
            <a:r>
              <a:rPr b="1" i="0" lang="en" sz="2200" u="none" cap="none" strike="noStrike">
                <a:solidFill>
                  <a:srgbClr val="1A1A2E"/>
                </a:solidFill>
                <a:latin typeface="Calibri"/>
                <a:ea typeface="Calibri"/>
                <a:cs typeface="Calibri"/>
                <a:sym typeface="Calibri"/>
              </a:rPr>
              <a:t>Initializing</a:t>
            </a:r>
            <a:endParaRPr b="0" i="0" sz="2200" u="none" cap="none" strike="noStrike">
              <a:solidFill>
                <a:schemeClr val="dk1"/>
              </a:solidFill>
              <a:latin typeface="Calibri"/>
              <a:ea typeface="Calibri"/>
              <a:cs typeface="Calibri"/>
              <a:sym typeface="Calibri"/>
            </a:endParaRPr>
          </a:p>
        </p:txBody>
      </p:sp>
      <p:sp>
        <p:nvSpPr>
          <p:cNvPr id="189" name="Google Shape;189;p27"/>
          <p:cNvSpPr/>
          <p:nvPr/>
        </p:nvSpPr>
        <p:spPr>
          <a:xfrm>
            <a:off x="2926080" y="0"/>
            <a:ext cx="54864" cy="5143500"/>
          </a:xfrm>
          <a:prstGeom prst="rect">
            <a:avLst/>
          </a:prstGeom>
          <a:solidFill>
            <a:srgbClr val="E2E2EC"/>
          </a:solidFill>
          <a:ln cap="flat" cmpd="sng" w="12700">
            <a:solidFill>
              <a:srgbClr val="E2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7"/>
          <p:cNvSpPr/>
          <p:nvPr/>
        </p:nvSpPr>
        <p:spPr>
          <a:xfrm>
            <a:off x="3246120" y="457200"/>
            <a:ext cx="5577840" cy="429768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Now you actually park your boda in that reserved spot. It is no longer empty.</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1000"/>
              </a:spcBef>
              <a:spcAft>
                <a:spcPts val="0"/>
              </a:spcAft>
              <a:buClr>
                <a:srgbClr val="2D2D2D"/>
              </a:buClr>
              <a:buSzPts val="1500"/>
              <a:buFont typeface="Calibri"/>
              <a:buNone/>
            </a:pPr>
            <a:r>
              <a:rPr b="0" i="0" lang="en" sz="1500" u="none" cap="none" strike="noStrike">
                <a:solidFill>
                  <a:srgbClr val="2D2D2D"/>
                </a:solidFill>
                <a:latin typeface="Calibri"/>
                <a:ea typeface="Calibri"/>
                <a:cs typeface="Calibri"/>
                <a:sym typeface="Calibri"/>
              </a:rPr>
              <a:t>Initializing means putting something into the </a:t>
            </a:r>
            <a:r>
              <a:rPr lang="en" sz="1500">
                <a:solidFill>
                  <a:srgbClr val="2D2D2D"/>
                </a:solidFill>
                <a:latin typeface="Calibri"/>
                <a:ea typeface="Calibri"/>
                <a:cs typeface="Calibri"/>
                <a:sym typeface="Calibri"/>
              </a:rPr>
              <a:t>that space</a:t>
            </a:r>
            <a:r>
              <a:rPr b="0" i="0" lang="en" sz="1500" u="none" cap="none" strike="noStrike">
                <a:solidFill>
                  <a:srgbClr val="2D2D2D"/>
                </a:solidFill>
                <a:latin typeface="Calibri"/>
                <a:ea typeface="Calibri"/>
                <a:cs typeface="Calibri"/>
                <a:sym typeface="Calibri"/>
              </a:rPr>
              <a:t> for the first time. You tell the computer, "Put zero in the </a:t>
            </a:r>
            <a:r>
              <a:rPr lang="en" sz="1500">
                <a:solidFill>
                  <a:srgbClr val="2D2D2D"/>
                </a:solidFill>
                <a:latin typeface="Calibri"/>
                <a:ea typeface="Calibri"/>
                <a:cs typeface="Calibri"/>
                <a:sym typeface="Calibri"/>
              </a:rPr>
              <a:t>space</a:t>
            </a:r>
            <a:r>
              <a:rPr b="0" i="0" lang="en" sz="1500" u="none" cap="none" strike="noStrike">
                <a:solidFill>
                  <a:srgbClr val="2D2D2D"/>
                </a:solidFill>
                <a:latin typeface="Calibri"/>
                <a:ea typeface="Calibri"/>
                <a:cs typeface="Calibri"/>
                <a:sym typeface="Calibri"/>
              </a:rPr>
              <a:t> called trips." Now the computer can use it.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